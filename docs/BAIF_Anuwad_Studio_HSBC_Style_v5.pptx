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81f30b9e8b44ae" /><Relationship Type="http://schemas.openxmlformats.org/officeDocument/2006/relationships/extended-properties" Target="/docProps/app.xml" Id="R786077d23aa04016" /><Relationship Type="http://schemas.openxmlformats.org/officeDocument/2006/relationships/officeDocument" Target="/ppt/presentation.xml" Id="R042fc7de305c425a" /></Relationships>
</file>

<file path=ppt/presentation.xml><?xml version="1.0" encoding="utf-8"?>
<p:presentation xmlns:p="http://schemas.openxmlformats.org/presentationml/2006/main">
  <p:sldMasterIdLst>
    <p:sldMasterId xmlns:r="http://schemas.openxmlformats.org/officeDocument/2006/relationships" id="2147483648" r:id="Rcf9cbf1fd113452b"/>
  </p:sldMasterIdLst>
  <p:notesMasterIdLst>
    <p:notesMasterId xmlns:r="http://schemas.openxmlformats.org/officeDocument/2006/relationships" r:id="R8512eca6c1b04f3d"/>
  </p:notesMasterIdLst>
  <p:sldIdLst>
    <p:sldId xmlns:r="http://schemas.openxmlformats.org/officeDocument/2006/relationships" id="256" r:id="R4007642cd5534bfd"/>
    <p:sldId xmlns:r="http://schemas.openxmlformats.org/officeDocument/2006/relationships" id="257" r:id="R76b2b71025424cd4"/>
    <p:sldId xmlns:r="http://schemas.openxmlformats.org/officeDocument/2006/relationships" id="258" r:id="R9ed62bcb5b2048b9"/>
    <p:sldId xmlns:r="http://schemas.openxmlformats.org/officeDocument/2006/relationships" id="259" r:id="R3123d7896739422d"/>
    <p:sldId xmlns:r="http://schemas.openxmlformats.org/officeDocument/2006/relationships" id="260" r:id="Rd4e140e3f4fb46dc"/>
    <p:sldId xmlns:r="http://schemas.openxmlformats.org/officeDocument/2006/relationships" id="261" r:id="R53f535ed77e94c03"/>
    <p:sldId xmlns:r="http://schemas.openxmlformats.org/officeDocument/2006/relationships" id="262" r:id="R09ebfc1bbf104ffb"/>
    <p:sldId xmlns:r="http://schemas.openxmlformats.org/officeDocument/2006/relationships" id="263" r:id="Rbd004158b47f4169"/>
    <p:sldId xmlns:r="http://schemas.openxmlformats.org/officeDocument/2006/relationships" id="264" r:id="R41c40771ed34414f"/>
    <p:sldId xmlns:r="http://schemas.openxmlformats.org/officeDocument/2006/relationships" id="265" r:id="R04c576362c694382"/>
    <p:sldId xmlns:r="http://schemas.openxmlformats.org/officeDocument/2006/relationships" id="266" r:id="Rdb47ea838f1d4c7a"/>
    <p:sldId xmlns:r="http://schemas.openxmlformats.org/officeDocument/2006/relationships" id="267" r:id="Rd743fdccd34a47bf"/>
    <p:sldId xmlns:r="http://schemas.openxmlformats.org/officeDocument/2006/relationships" id="268" r:id="Rdcff274376f242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6f428766534e7f" /><Relationship Type="http://schemas.openxmlformats.org/officeDocument/2006/relationships/slideMaster" Target="/ppt/slideMasters/slideMaster1.xml" Id="Rcf9cbf1fd113452b" /><Relationship Type="http://schemas.openxmlformats.org/officeDocument/2006/relationships/notesMaster" Target="/ppt/notesMasters/notesMaster1.xml" Id="R8512eca6c1b04f3d" /><Relationship Type="http://schemas.openxmlformats.org/officeDocument/2006/relationships/presProps" Target="/ppt/presProps.xml" Id="Rce1f00874111459a" /><Relationship Type="http://schemas.openxmlformats.org/officeDocument/2006/relationships/tableStyles" Target="/ppt/tableStyles.xml" Id="Rd5b99c9d08794486" /><Relationship Type="http://schemas.openxmlformats.org/officeDocument/2006/relationships/slide" Target="/ppt/slides/slide1.xml" Id="R4007642cd5534bfd" /><Relationship Type="http://schemas.openxmlformats.org/officeDocument/2006/relationships/slide" Target="/ppt/slides/slide2.xml" Id="R76b2b71025424cd4" /><Relationship Type="http://schemas.openxmlformats.org/officeDocument/2006/relationships/slide" Target="/ppt/slides/slide3.xml" Id="R9ed62bcb5b2048b9" /><Relationship Type="http://schemas.openxmlformats.org/officeDocument/2006/relationships/slide" Target="/ppt/slides/slide4.xml" Id="R3123d7896739422d" /><Relationship Type="http://schemas.openxmlformats.org/officeDocument/2006/relationships/slide" Target="/ppt/slides/slide5.xml" Id="Rd4e140e3f4fb46dc" /><Relationship Type="http://schemas.openxmlformats.org/officeDocument/2006/relationships/slide" Target="/ppt/slides/slide6.xml" Id="R53f535ed77e94c03" /><Relationship Type="http://schemas.openxmlformats.org/officeDocument/2006/relationships/slide" Target="/ppt/slides/slide7.xml" Id="R09ebfc1bbf104ffb" /><Relationship Type="http://schemas.openxmlformats.org/officeDocument/2006/relationships/slide" Target="/ppt/slides/slide8.xml" Id="Rbd004158b47f4169" /><Relationship Type="http://schemas.openxmlformats.org/officeDocument/2006/relationships/slide" Target="/ppt/slides/slide9.xml" Id="R41c40771ed34414f" /><Relationship Type="http://schemas.openxmlformats.org/officeDocument/2006/relationships/slide" Target="/ppt/slides/slide10.xml" Id="R04c576362c694382" /><Relationship Type="http://schemas.openxmlformats.org/officeDocument/2006/relationships/slide" Target="/ppt/slides/slide11.xml" Id="Rdb47ea838f1d4c7a" /><Relationship Type="http://schemas.openxmlformats.org/officeDocument/2006/relationships/slide" Target="/ppt/slides/slide12.xml" Id="Rd743fdccd34a47bf" /><Relationship Type="http://schemas.openxmlformats.org/officeDocument/2006/relationships/slide" Target="/ppt/slides/slide13.xml" Id="Rdcff274376f242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23b6afc82a48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ef356787df4cd4" /><Relationship Type="http://schemas.openxmlformats.org/officeDocument/2006/relationships/notesMaster" Target="/ppt/notesMasters/notesMaster1.xml" Id="R4c23a99ef95749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c266c241914de0" /><Relationship Type="http://schemas.openxmlformats.org/officeDocument/2006/relationships/notesMaster" Target="/ppt/notesMasters/notesMaster1.xml" Id="R7cadcdf65c1942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09bd4527fb46ab" /><Relationship Type="http://schemas.openxmlformats.org/officeDocument/2006/relationships/notesMaster" Target="/ppt/notesMasters/notesMaster1.xml" Id="R8fbc7f2b1d7d42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7cc336b21c42cb" /><Relationship Type="http://schemas.openxmlformats.org/officeDocument/2006/relationships/notesMaster" Target="/ppt/notesMasters/notesMaster1.xml" Id="R7dfc23386252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a27efc39654978" /><Relationship Type="http://schemas.openxmlformats.org/officeDocument/2006/relationships/notesMaster" Target="/ppt/notesMasters/notesMaster1.xml" Id="R760efa3967e042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da7206f315451b" /><Relationship Type="http://schemas.openxmlformats.org/officeDocument/2006/relationships/notesMaster" Target="/ppt/notesMasters/notesMaster1.xml" Id="R7e4ab3948cd641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accd170bde4c3c" /><Relationship Type="http://schemas.openxmlformats.org/officeDocument/2006/relationships/notesMaster" Target="/ppt/notesMasters/notesMaster1.xml" Id="R8d666d47771048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2c3838e9934399" /><Relationship Type="http://schemas.openxmlformats.org/officeDocument/2006/relationships/notesMaster" Target="/ppt/notesMasters/notesMaster1.xml" Id="R30629254bb124a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5509d4e65e4c63" /><Relationship Type="http://schemas.openxmlformats.org/officeDocument/2006/relationships/notesMaster" Target="/ppt/notesMasters/notesMaster1.xml" Id="Rb9b125ee57ca45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af51881644cef" /><Relationship Type="http://schemas.openxmlformats.org/officeDocument/2006/relationships/notesMaster" Target="/ppt/notesMasters/notesMaster1.xml" Id="R8dab6372444b49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cb6f7859484177" /><Relationship Type="http://schemas.openxmlformats.org/officeDocument/2006/relationships/notesMaster" Target="/ppt/notesMasters/notesMaster1.xml" Id="R1cbf6b43c2a44b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ea7e9fcb8a4cb9" /><Relationship Type="http://schemas.openxmlformats.org/officeDocument/2006/relationships/notesMaster" Target="/ppt/notesMasters/notesMaster1.xml" Id="Rd48e965f1e4d4b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f88f17cd8348a2" /><Relationship Type="http://schemas.openxmlformats.org/officeDocument/2006/relationships/notesMaster" Target="/ppt/notesMasters/notesMaster1.xml" Id="R053e99f244094b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Team Anuwad. Our solution is BAIF Anuwad Studio, an offline application that translates English, Hindi, and Marathi text, audio, and video. The purpose is to make BAIF field content usable in the language people understand while keeping the files and models inside BAIF infrastructure.</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BAIF uses training videos, meeting recordings, instructions, and written material. Language can limit how widely this information is used. The requirement is to accept text, audio, and video, create translations and voice output, support captions, and avoid normal internet or cloud dependency during use.</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has one simple workflow. They upload a file or enter text, choose the source and target languages, and start translation. The application recognises speech when needed, translates the content, generates voice and subtitles, and prepares downloadable files.</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accepts text, common audio files such as MP3 and WAV, and common video files such as MP4, MOV, MKV, and WebM. It produces translated text, JSON, continuous dubbed audio, SRT subtitles, an optional summary, and a translated video when the input is a video.</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technical workflow has five local stages. FFmpeg prepares the media. Faster-Whisper converts speech to a timestamped transcript. IndicTrans2 translates the text. Sherpa-ONNX creates the target-language voice. Finally, FFmpeg combines the translated audio and subtitles with the video. After model installation, every stage runs locally.</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speech recognition, we selected Faster-Whisper. It supports English, Hindi, and Marathi and produces timestamps needed for subtitles and video alignment. It is configured for CPU-based INT8 processing, which is practical for the BAIF deployment machine. We also use overlapping processing windows and cleanup logic to reduce missed words and repeated segments.</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translation, we use IndicTrans2 with CTranslate2 for efficient local inference. IndicTrans2 is selected because it is built for Indian languages. For English and an Indian language, the system uses the corresponding local model. For Hindi and Marathi, it uses English as a local intermediate language. This gives coverage for every required language direction without any cloud call.</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translated voice, we use Sherpa-ONNX VITS models stored locally for English, Hindi, and Marathi. The system creates continuous WAV audio for listening. It also creates a separate time-aligned version for the final video, so voice appears with the original scenes.</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writes translated subtitles as an SRT file. It then uses FFmpeg to combine the original video with the translated audio. If needed, captions can be burned into the final MP4. This provides both editable subtitles and a ready-to-share translated video.</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focused on the visible issues users notice first: skipped speech, repeated words, translation quality, and audio timing. The pipeline uses ASR overlap and gap recovery, repetition cleanup, merged translation context, and separate continuous and video-timed audio paths. These controls improve practical output quality, although noisy speech and local dialects should still be reviewed before high-stakes use.</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uses Python, Streamlit, FFmpeg, local SQLite caching, and the approved local model vault. The model vault contains Whisper, IndicTrans2, and text-to-speech models. A new machine can receive the vault through a pendrive, or download it once using temporary internet access. Normal translation then runs without internet, HSBC systems, or cloud APIs.</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I will upload a short file, choose the source and target languages, and start processing. The interface shows a completion percentage and a plain-language message instead of technical logs. When processing finishes, I will show the translated text, dubbed audio, SRT subtitles, and final translated video. We can then disconnect internet and repeat with a new file to show that processing remains local.</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a:t>
            </a:r>
          </a:p>
          <a:p xmlns:a="http://schemas.openxmlformats.org/drawingml/2006/main">
            <a:r>
              <a:t/>
            </a:r>
          </a:p>
          <a:p xmlns:a="http://schemas.openxmlformats.org/drawingml/2006/main">
            <a:r>
              <a:t>[Sources]</a:t>
            </a:r>
          </a:p>
          <a:p xmlns:a="http://schemas.openxmlformats.org/drawingml/2006/main">
            <a:r>
              <a:t>- HSBC logo reference image supplied by the user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4704779e3643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3931d0bef84958" /><Relationship Type="http://schemas.openxmlformats.org/officeDocument/2006/relationships/slideLayout" Target="/ppt/slideLayouts/slideLayout1.xml" Id="R75a943fde08746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a943fde08746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b3a21c947b4f5e" /><Relationship Type="http://schemas.openxmlformats.org/officeDocument/2006/relationships/image" Target="/ppt/media/image.png" Id="R0dc3e57e2fa34aaa" /><Relationship Type="http://schemas.openxmlformats.org/officeDocument/2006/relationships/notesSlide" Target="/ppt/notesSlides/notesSlide1.xml" Id="Ra2591ff11f9448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d83a4b34ae4b04" /><Relationship Type="http://schemas.openxmlformats.org/officeDocument/2006/relationships/notesSlide" Target="/ppt/notesSlides/notesSlide2.xml" Id="Rf25c877b3b5047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9124d054f942eb" /><Relationship Type="http://schemas.openxmlformats.org/officeDocument/2006/relationships/notesSlide" Target="/ppt/notesSlides/notesSlide3.xml" Id="Rd7df31e5756f4e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c52d794d924ffa" /><Relationship Type="http://schemas.openxmlformats.org/officeDocument/2006/relationships/notesSlide" Target="/ppt/notesSlides/notesSlide4.xml" Id="R655d666bfaf7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ca63a981514672" /><Relationship Type="http://schemas.openxmlformats.org/officeDocument/2006/relationships/notesSlide" Target="/ppt/notesSlides/notesSlide5.xml" Id="R92a5a320db9446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6f8abdccab4cad" /><Relationship Type="http://schemas.openxmlformats.org/officeDocument/2006/relationships/notesSlide" Target="/ppt/notesSlides/notesSlide6.xml" Id="R61ef668ebcbc42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3d28fef8e4405c" /><Relationship Type="http://schemas.openxmlformats.org/officeDocument/2006/relationships/notesSlide" Target="/ppt/notesSlides/notesSlide7.xml" Id="Rcb8ebdd1e7274f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9126ee85684217" /><Relationship Type="http://schemas.openxmlformats.org/officeDocument/2006/relationships/notesSlide" Target="/ppt/notesSlides/notesSlide8.xml" Id="R3e127af9dadc47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4d2e4d4a07472a" /><Relationship Type="http://schemas.openxmlformats.org/officeDocument/2006/relationships/notesSlide" Target="/ppt/notesSlides/notesSlide9.xml" Id="Rf31187f44eca4d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f829dc47a14952" /><Relationship Type="http://schemas.openxmlformats.org/officeDocument/2006/relationships/notesSlide" Target="/ppt/notesSlides/notesSlide10.xml" Id="R20b3aa3126c24f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d4a11ea99e4cc0" /><Relationship Type="http://schemas.openxmlformats.org/officeDocument/2006/relationships/notesSlide" Target="/ppt/notesSlides/notesSlide11.xml" Id="Rf981797d84bd42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62c485a8384fd1" /><Relationship Type="http://schemas.openxmlformats.org/officeDocument/2006/relationships/notesSlide" Target="/ppt/notesSlides/notesSlide12.xml" Id="Rb497bba1dc7f46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c2d5982d834df5" /><Relationship Type="http://schemas.openxmlformats.org/officeDocument/2006/relationships/notesSlide" Target="/ppt/notesSlides/notesSlide13.xml" Id="Rbd5277ee79304e4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dc3e57e2fa34a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4EFF5C-D05E-4EBA-B67D-5D510B9A1D2C}"/>
              </a:ext>
            </a:extLst>
          </p:cNvPr>
          <p:cNvSpPr>
            <a:spLocks xmlns:a="http://schemas.openxmlformats.org/drawingml/2006/main" noGrp="1"/>
          </p:cNvSpPr>
          <p:nvPr/>
        </p:nvSpPr>
        <p:spPr>
          <a:xfrm xmlns:a="http://schemas.openxmlformats.org/drawingml/2006/main">
            <a:off x="0" y="0"/>
            <a:ext cx="4191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186D49B-BA44-4C72-81FA-E3E0BEBBB86C}"/>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565F21-BDF0-48DB-AE0B-8FFA254D9E2C}"/>
              </a:ext>
            </a:extLst>
          </p:cNvPr>
          <p:cNvSpPr>
            <a:spLocks xmlns:a="http://schemas.openxmlformats.org/drawingml/2006/main" noGrp="1"/>
          </p:cNvSpPr>
          <p:nvPr/>
        </p:nvSpPr>
        <p:spPr>
          <a:xfrm xmlns:a="http://schemas.openxmlformats.org/drawingml/2006/main">
            <a:off x="647700" y="7620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778"/>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TEAM ANUWAD</a:t>
            </a:r>
          </a:p>
        </p:txBody>
      </p:sp>
      <p:sp>
        <p:nvSpPr>
          <p:cNvPr id="5" name="">
            <a:extLst xmlns:a="http://schemas.openxmlformats.org/drawingml/2006/main">
              <a:ext uri="{FF2B5EF4-FFF2-40B4-BE49-F238E27FC236}">
                <a16:creationId xmlns:a16="http://schemas.microsoft.com/office/drawing/2014/main" id="{0BF2DEBC-F4FD-469E-9774-512F6903D068}"/>
              </a:ext>
            </a:extLst>
          </p:cNvPr>
          <p:cNvSpPr>
            <a:spLocks xmlns:a="http://schemas.openxmlformats.org/drawingml/2006/main" noGrp="1"/>
          </p:cNvSpPr>
          <p:nvPr/>
        </p:nvSpPr>
        <p:spPr>
          <a:xfrm xmlns:a="http://schemas.openxmlformats.org/drawingml/2006/main">
            <a:off x="647700" y="1524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3450" b="1">
                <a:solidFill>
                  <a:srgbClr val="333333"/>
                </a:solidFill>
                <a:latin typeface="Arial"/>
                <a:ea typeface="Arial"/>
                <a:cs typeface="Arial"/>
              </a:defRPr>
            </a:pPr>
            <a:r>
              <a:rPr sz="3450" b="1">
                <a:solidFill>
                  <a:srgbClr val="333333"/>
                </a:solidFill>
                <a:latin typeface="Arial"/>
                <a:ea typeface="Arial"/>
                <a:cs typeface="Arial"/>
              </a:rPr>
              <a:t>BAIF Anuwad</a:t>
            </a:r>
          </a:p>
          <a:p xmlns:a="http://schemas.openxmlformats.org/drawingml/2006/main">
            <a:pPr algn="l">
              <a:defRPr sz="3450" b="1">
                <a:solidFill>
                  <a:srgbClr val="333333"/>
                </a:solidFill>
                <a:latin typeface="Arial"/>
                <a:ea typeface="Arial"/>
                <a:cs typeface="Arial"/>
              </a:defRPr>
            </a:pPr>
            <a:r>
              <a:rPr sz="3450" b="1">
                <a:solidFill>
                  <a:srgbClr val="333333"/>
                </a:solidFill>
                <a:latin typeface="Arial"/>
                <a:ea typeface="Arial"/>
                <a:cs typeface="Arial"/>
              </a:rPr>
              <a:t>Studio</a:t>
            </a:r>
          </a:p>
        </p:txBody>
      </p:sp>
      <p:sp>
        <p:nvSpPr>
          <p:cNvPr id="6" name="">
            <a:extLst xmlns:a="http://schemas.openxmlformats.org/drawingml/2006/main">
              <a:ext uri="{FF2B5EF4-FFF2-40B4-BE49-F238E27FC236}">
                <a16:creationId xmlns:a16="http://schemas.microsoft.com/office/drawing/2014/main" id="{03043A44-BD60-4F62-BF56-359BCF5F9E01}"/>
              </a:ext>
            </a:extLst>
          </p:cNvPr>
          <p:cNvSpPr>
            <a:spLocks xmlns:a="http://schemas.openxmlformats.org/drawingml/2006/main" noGrp="1"/>
          </p:cNvSpPr>
          <p:nvPr/>
        </p:nvSpPr>
        <p:spPr>
          <a:xfrm xmlns:a="http://schemas.openxmlformats.org/drawingml/2006/main">
            <a:off x="647700" y="33337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5C5C5C"/>
                </a:solidFill>
                <a:latin typeface="Arial"/>
                <a:ea typeface="Arial"/>
                <a:cs typeface="Arial"/>
              </a:defRPr>
            </a:pPr>
            <a:r>
              <a:rPr sz="1575" b="0">
                <a:solidFill>
                  <a:srgbClr val="5C5C5C"/>
                </a:solidFill>
                <a:latin typeface="Arial"/>
                <a:ea typeface="Arial"/>
                <a:cs typeface="Arial"/>
              </a:rPr>
              <a:t>Offline translation for field media</a:t>
            </a:r>
          </a:p>
        </p:txBody>
      </p:sp>
      <p:sp>
        <p:nvSpPr>
          <p:cNvPr id="7" name="">
            <a:extLst xmlns:a="http://schemas.openxmlformats.org/drawingml/2006/main">
              <a:ext uri="{FF2B5EF4-FFF2-40B4-BE49-F238E27FC236}">
                <a16:creationId xmlns:a16="http://schemas.microsoft.com/office/drawing/2014/main" id="{415E8D07-2BF2-4660-9A4A-299368C50CCF}"/>
              </a:ext>
            </a:extLst>
          </p:cNvPr>
          <p:cNvSpPr>
            <a:spLocks xmlns:a="http://schemas.openxmlformats.org/drawingml/2006/main" noGrp="1"/>
          </p:cNvSpPr>
          <p:nvPr/>
        </p:nvSpPr>
        <p:spPr>
          <a:xfrm xmlns:a="http://schemas.openxmlformats.org/drawingml/2006/main">
            <a:off x="647700" y="4029075"/>
            <a:ext cx="3143250" cy="190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7FD2DB-99C2-4B44-9CF2-58FF752FC8EC}"/>
              </a:ext>
            </a:extLst>
          </p:cNvPr>
          <p:cNvSpPr>
            <a:spLocks xmlns:a="http://schemas.openxmlformats.org/drawingml/2006/main" noGrp="1"/>
          </p:cNvSpPr>
          <p:nvPr/>
        </p:nvSpPr>
        <p:spPr>
          <a:xfrm xmlns:a="http://schemas.openxmlformats.org/drawingml/2006/main">
            <a:off x="647700" y="43624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English, Hindi and Marathi</a:t>
            </a:r>
          </a:p>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Text, audio and video</a:t>
            </a:r>
          </a:p>
        </p:txBody>
      </p:sp>
    </p:spTree>
    <p:extLst>
      <p:ext uri="{BB962C8B-B14F-4D97-AF65-F5344CB8AC3E}">
        <p14:creationId xmlns:p14="http://schemas.microsoft.com/office/powerpoint/2010/main" val="17673843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765886-D706-4D05-9450-009FBB7E72C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45ADA1-4ED8-437A-BAD2-735EE8114AE3}"/>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93B7008D-7271-4573-9242-2C1F2D84F769}"/>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1F6261-14D8-4369-8FB2-DF2E972A179D}"/>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8750F8E-6A76-4E5D-9B26-7FA8B6B3A967}"/>
              </a:ext>
            </a:extLst>
          </p:cNvPr>
          <p:cNvSpPr>
            <a:spLocks xmlns:a="http://schemas.openxmlformats.org/drawingml/2006/main" noGrp="1"/>
          </p:cNvSpPr>
          <p:nvPr/>
        </p:nvSpPr>
        <p:spPr>
          <a:xfrm xmlns:a="http://schemas.openxmlformats.org/drawingml/2006/main">
            <a:off x="647700" y="1809750"/>
            <a:ext cx="733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6944"/>
          </a:bodyPr>
          <a:lstStyle xmlns:a="http://schemas.openxmlformats.org/drawingml/2006/main"/>
          <a:p xmlns:a="http://schemas.openxmlformats.org/drawingml/2006/main">
            <a:pPr algn="l">
              <a:defRPr sz="2250" b="1">
                <a:solidFill>
                  <a:srgbClr val="333333"/>
                </a:solidFill>
                <a:latin typeface="Arial"/>
                <a:ea typeface="Arial"/>
                <a:cs typeface="Arial"/>
              </a:defRPr>
            </a:pPr>
            <a:r>
              <a:rPr sz="2250" b="1">
                <a:solidFill>
                  <a:srgbClr val="333333"/>
                </a:solidFill>
                <a:latin typeface="Arial"/>
                <a:ea typeface="Arial"/>
                <a:cs typeface="Arial"/>
              </a:rPr>
              <a:t>BAIF field content often needs to reach people who use different languages.</a:t>
            </a:r>
          </a:p>
        </p:txBody>
      </p:sp>
      <p:sp>
        <p:nvSpPr>
          <p:cNvPr id="6" name="">
            <a:extLst xmlns:a="http://schemas.openxmlformats.org/drawingml/2006/main">
              <a:ext uri="{FF2B5EF4-FFF2-40B4-BE49-F238E27FC236}">
                <a16:creationId xmlns:a16="http://schemas.microsoft.com/office/drawing/2014/main" id="{F42C99D1-014E-4FF6-85B4-DEC5C2291D04}"/>
              </a:ext>
            </a:extLst>
          </p:cNvPr>
          <p:cNvSpPr>
            <a:spLocks xmlns:a="http://schemas.openxmlformats.org/drawingml/2006/main" noGrp="1"/>
          </p:cNvSpPr>
          <p:nvPr/>
        </p:nvSpPr>
        <p:spPr>
          <a:xfrm xmlns:a="http://schemas.openxmlformats.org/drawingml/2006/main">
            <a:off x="647700" y="2781300"/>
            <a:ext cx="95250" cy="22860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6C9268-D4B5-47B0-AD7F-1E43386F1240}"/>
              </a:ext>
            </a:extLst>
          </p:cNvPr>
          <p:cNvSpPr>
            <a:spLocks xmlns:a="http://schemas.openxmlformats.org/drawingml/2006/main" noGrp="1"/>
          </p:cNvSpPr>
          <p:nvPr/>
        </p:nvSpPr>
        <p:spPr>
          <a:xfrm xmlns:a="http://schemas.openxmlformats.org/drawingml/2006/main">
            <a:off x="1028700" y="2781300"/>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167"/>
          </a:bodyPr>
          <a:lstStyle xmlns:a="http://schemas.openxmlformats.org/drawingml/2006/main"/>
          <a:p xmlns:a="http://schemas.openxmlformats.org/drawingml/2006/main">
            <a:pPr algn="l">
              <a:defRPr sz="1500" b="1">
                <a:solidFill>
                  <a:srgbClr val="DB0011"/>
                </a:solidFill>
                <a:latin typeface="Arial"/>
                <a:ea typeface="Arial"/>
                <a:cs typeface="Arial"/>
              </a:defRPr>
            </a:pPr>
            <a:r>
              <a:rPr sz="1500" b="1">
                <a:solidFill>
                  <a:srgbClr val="DB0011"/>
                </a:solidFill>
                <a:latin typeface="Arial"/>
                <a:ea typeface="Arial"/>
                <a:cs typeface="Arial"/>
              </a:rPr>
              <a:t>Content</a:t>
            </a:r>
          </a:p>
        </p:txBody>
      </p:sp>
      <p:sp>
        <p:nvSpPr>
          <p:cNvPr id="8" name="">
            <a:extLst xmlns:a="http://schemas.openxmlformats.org/drawingml/2006/main">
              <a:ext uri="{FF2B5EF4-FFF2-40B4-BE49-F238E27FC236}">
                <a16:creationId xmlns:a16="http://schemas.microsoft.com/office/drawing/2014/main" id="{BF2A18C9-53F0-4466-BFB2-E1AE00C4381E}"/>
              </a:ext>
            </a:extLst>
          </p:cNvPr>
          <p:cNvSpPr>
            <a:spLocks xmlns:a="http://schemas.openxmlformats.org/drawingml/2006/main" noGrp="1"/>
          </p:cNvSpPr>
          <p:nvPr/>
        </p:nvSpPr>
        <p:spPr>
          <a:xfrm xmlns:a="http://schemas.openxmlformats.org/drawingml/2006/main">
            <a:off x="2809875" y="278130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Training videos, meeting recordings, instructions and written material</a:t>
            </a:r>
          </a:p>
        </p:txBody>
      </p:sp>
      <p:sp>
        <p:nvSpPr>
          <p:cNvPr id="9" name="">
            <a:extLst xmlns:a="http://schemas.openxmlformats.org/drawingml/2006/main">
              <a:ext uri="{FF2B5EF4-FFF2-40B4-BE49-F238E27FC236}">
                <a16:creationId xmlns:a16="http://schemas.microsoft.com/office/drawing/2014/main" id="{3DCBC244-CAF9-4F07-AD8C-0640DD4F8E24}"/>
              </a:ext>
            </a:extLst>
          </p:cNvPr>
          <p:cNvSpPr>
            <a:spLocks xmlns:a="http://schemas.openxmlformats.org/drawingml/2006/main" noGrp="1"/>
          </p:cNvSpPr>
          <p:nvPr/>
        </p:nvSpPr>
        <p:spPr>
          <a:xfrm xmlns:a="http://schemas.openxmlformats.org/drawingml/2006/main">
            <a:off x="1028700" y="3371850"/>
            <a:ext cx="95250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9106D72-C1DF-4536-9D66-E613104313BE}"/>
              </a:ext>
            </a:extLst>
          </p:cNvPr>
          <p:cNvSpPr>
            <a:spLocks xmlns:a="http://schemas.openxmlformats.org/drawingml/2006/main" noGrp="1"/>
          </p:cNvSpPr>
          <p:nvPr/>
        </p:nvSpPr>
        <p:spPr>
          <a:xfrm xmlns:a="http://schemas.openxmlformats.org/drawingml/2006/main">
            <a:off x="1028700" y="3562350"/>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167"/>
          </a:bodyPr>
          <a:lstStyle xmlns:a="http://schemas.openxmlformats.org/drawingml/2006/main"/>
          <a:p xmlns:a="http://schemas.openxmlformats.org/drawingml/2006/main">
            <a:pPr algn="l">
              <a:defRPr sz="1500" b="1">
                <a:solidFill>
                  <a:srgbClr val="DB0011"/>
                </a:solidFill>
                <a:latin typeface="Arial"/>
                <a:ea typeface="Arial"/>
                <a:cs typeface="Arial"/>
              </a:defRPr>
            </a:pPr>
            <a:r>
              <a:rPr sz="1500" b="1">
                <a:solidFill>
                  <a:srgbClr val="DB0011"/>
                </a:solidFill>
                <a:latin typeface="Arial"/>
                <a:ea typeface="Arial"/>
                <a:cs typeface="Arial"/>
              </a:rPr>
              <a:t>Need</a:t>
            </a:r>
          </a:p>
        </p:txBody>
      </p:sp>
      <p:sp>
        <p:nvSpPr>
          <p:cNvPr id="11" name="">
            <a:extLst xmlns:a="http://schemas.openxmlformats.org/drawingml/2006/main">
              <a:ext uri="{FF2B5EF4-FFF2-40B4-BE49-F238E27FC236}">
                <a16:creationId xmlns:a16="http://schemas.microsoft.com/office/drawing/2014/main" id="{76388459-ED1D-43ED-89F9-1ADC6F1A06B6}"/>
              </a:ext>
            </a:extLst>
          </p:cNvPr>
          <p:cNvSpPr>
            <a:spLocks xmlns:a="http://schemas.openxmlformats.org/drawingml/2006/main" noGrp="1"/>
          </p:cNvSpPr>
          <p:nvPr/>
        </p:nvSpPr>
        <p:spPr>
          <a:xfrm xmlns:a="http://schemas.openxmlformats.org/drawingml/2006/main">
            <a:off x="2809875" y="35623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Translation, voice output and captions in English, Hindi and Marathi</a:t>
            </a:r>
          </a:p>
        </p:txBody>
      </p:sp>
      <p:sp>
        <p:nvSpPr>
          <p:cNvPr id="12" name="">
            <a:extLst xmlns:a="http://schemas.openxmlformats.org/drawingml/2006/main">
              <a:ext uri="{FF2B5EF4-FFF2-40B4-BE49-F238E27FC236}">
                <a16:creationId xmlns:a16="http://schemas.microsoft.com/office/drawing/2014/main" id="{2BD39C97-2443-478E-82D9-F375F8EC8B50}"/>
              </a:ext>
            </a:extLst>
          </p:cNvPr>
          <p:cNvSpPr>
            <a:spLocks xmlns:a="http://schemas.openxmlformats.org/drawingml/2006/main" noGrp="1"/>
          </p:cNvSpPr>
          <p:nvPr/>
        </p:nvSpPr>
        <p:spPr>
          <a:xfrm xmlns:a="http://schemas.openxmlformats.org/drawingml/2006/main">
            <a:off x="1028700" y="4152900"/>
            <a:ext cx="95250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6C19A8-BD49-4B5D-98AC-FA5CCCB823AE}"/>
              </a:ext>
            </a:extLst>
          </p:cNvPr>
          <p:cNvSpPr>
            <a:spLocks xmlns:a="http://schemas.openxmlformats.org/drawingml/2006/main" noGrp="1"/>
          </p:cNvSpPr>
          <p:nvPr/>
        </p:nvSpPr>
        <p:spPr>
          <a:xfrm xmlns:a="http://schemas.openxmlformats.org/drawingml/2006/main">
            <a:off x="1028700" y="4343400"/>
            <a:ext cx="1666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167"/>
          </a:bodyPr>
          <a:lstStyle xmlns:a="http://schemas.openxmlformats.org/drawingml/2006/main"/>
          <a:p xmlns:a="http://schemas.openxmlformats.org/drawingml/2006/main">
            <a:pPr algn="l">
              <a:defRPr sz="1500" b="1">
                <a:solidFill>
                  <a:srgbClr val="DB0011"/>
                </a:solidFill>
                <a:latin typeface="Arial"/>
                <a:ea typeface="Arial"/>
                <a:cs typeface="Arial"/>
              </a:defRPr>
            </a:pPr>
            <a:r>
              <a:rPr sz="1500" b="1">
                <a:solidFill>
                  <a:srgbClr val="DB0011"/>
                </a:solidFill>
                <a:latin typeface="Arial"/>
                <a:ea typeface="Arial"/>
                <a:cs typeface="Arial"/>
              </a:rPr>
              <a:t>Constraint</a:t>
            </a:r>
          </a:p>
        </p:txBody>
      </p:sp>
      <p:sp>
        <p:nvSpPr>
          <p:cNvPr id="14" name="">
            <a:extLst xmlns:a="http://schemas.openxmlformats.org/drawingml/2006/main">
              <a:ext uri="{FF2B5EF4-FFF2-40B4-BE49-F238E27FC236}">
                <a16:creationId xmlns:a16="http://schemas.microsoft.com/office/drawing/2014/main" id="{22DDDAE3-3A63-4518-8BC6-F7550D469BFE}"/>
              </a:ext>
            </a:extLst>
          </p:cNvPr>
          <p:cNvSpPr>
            <a:spLocks xmlns:a="http://schemas.openxmlformats.org/drawingml/2006/main" noGrp="1"/>
          </p:cNvSpPr>
          <p:nvPr/>
        </p:nvSpPr>
        <p:spPr>
          <a:xfrm xmlns:a="http://schemas.openxmlformats.org/drawingml/2006/main">
            <a:off x="2809875" y="434340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274"/>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On-premises operation with no normal internet, cloud API or HSBC-system dependency</a:t>
            </a:r>
          </a:p>
        </p:txBody>
      </p:sp>
      <p:sp>
        <p:nvSpPr>
          <p:cNvPr id="15" name="">
            <a:extLst xmlns:a="http://schemas.openxmlformats.org/drawingml/2006/main">
              <a:ext uri="{FF2B5EF4-FFF2-40B4-BE49-F238E27FC236}">
                <a16:creationId xmlns:a16="http://schemas.microsoft.com/office/drawing/2014/main" id="{3048618E-F76F-4F3F-BFCC-E2D19EC70409}"/>
              </a:ext>
            </a:extLst>
          </p:cNvPr>
          <p:cNvSpPr>
            <a:spLocks xmlns:a="http://schemas.openxmlformats.org/drawingml/2006/main" noGrp="1"/>
          </p:cNvSpPr>
          <p:nvPr/>
        </p:nvSpPr>
        <p:spPr>
          <a:xfrm xmlns:a="http://schemas.openxmlformats.org/drawingml/2006/main">
            <a:off x="1028700" y="4933950"/>
            <a:ext cx="95250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C23FAC3-1044-48C2-85D2-E5CF67D2502A}"/>
              </a:ext>
            </a:extLst>
          </p:cNvPr>
          <p:cNvSpPr>
            <a:spLocks xmlns:a="http://schemas.openxmlformats.org/drawingml/2006/main" noGrp="1"/>
          </p:cNvSpPr>
          <p:nvPr/>
        </p:nvSpPr>
        <p:spPr>
          <a:xfrm xmlns:a="http://schemas.openxmlformats.org/drawingml/2006/main">
            <a:off x="647700" y="55245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531"/>
          </a:bodyPr>
          <a:lstStyle xmlns:a="http://schemas.openxmlformats.org/drawingml/2006/main"/>
          <a:p xmlns:a="http://schemas.openxmlformats.org/drawingml/2006/main">
            <a:pPr algn="l">
              <a:defRPr sz="1800" b="1">
                <a:solidFill>
                  <a:srgbClr val="5C5C5C"/>
                </a:solidFill>
                <a:latin typeface="Arial"/>
                <a:ea typeface="Arial"/>
                <a:cs typeface="Arial"/>
              </a:defRPr>
            </a:pPr>
            <a:r>
              <a:rPr sz="1800" b="1">
                <a:solidFill>
                  <a:srgbClr val="5C5C5C"/>
                </a:solidFill>
                <a:latin typeface="Arial"/>
                <a:ea typeface="Arial"/>
                <a:cs typeface="Arial"/>
              </a:rPr>
              <a:t>The application must also handle real media formats and create outputs that users can download and share.</a:t>
            </a:r>
          </a:p>
        </p:txBody>
      </p:sp>
    </p:spTree>
    <p:extLst>
      <p:ext uri="{BB962C8B-B14F-4D97-AF65-F5344CB8AC3E}">
        <p14:creationId xmlns:p14="http://schemas.microsoft.com/office/powerpoint/2010/main" val="3899128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A886372-1771-498E-B9D7-6276DA2EAEF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409F7B-EA86-4687-820D-9B20EE164B83}"/>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Overall solution</a:t>
            </a:r>
          </a:p>
        </p:txBody>
      </p:sp>
      <p:sp>
        <p:nvSpPr>
          <p:cNvPr id="3" name="">
            <a:extLst xmlns:a="http://schemas.openxmlformats.org/drawingml/2006/main">
              <a:ext uri="{FF2B5EF4-FFF2-40B4-BE49-F238E27FC236}">
                <a16:creationId xmlns:a16="http://schemas.microsoft.com/office/drawing/2014/main" id="{5B0AC8AC-6783-4AD5-9713-952AF56CF5CD}"/>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916FC63-BEBA-467C-AF5D-8093BA3BDF18}"/>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20E0760-0A55-41DB-9D2F-75C2E16665CA}"/>
              </a:ext>
            </a:extLst>
          </p:cNvPr>
          <p:cNvSpPr>
            <a:spLocks xmlns:a="http://schemas.openxmlformats.org/drawingml/2006/main" noGrp="1"/>
          </p:cNvSpPr>
          <p:nvPr/>
        </p:nvSpPr>
        <p:spPr>
          <a:xfrm xmlns:a="http://schemas.openxmlformats.org/drawingml/2006/main">
            <a:off x="647700" y="17907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3333"/>
                </a:solidFill>
                <a:latin typeface="Arial"/>
                <a:ea typeface="Arial"/>
                <a:cs typeface="Arial"/>
              </a:defRPr>
            </a:pPr>
            <a:r>
              <a:rPr sz="2100" b="1">
                <a:solidFill>
                  <a:srgbClr val="333333"/>
                </a:solidFill>
                <a:latin typeface="Arial"/>
                <a:ea typeface="Arial"/>
                <a:cs typeface="Arial"/>
              </a:rPr>
              <a:t>BAIF Anuwad Studio gives the operator one simple workflow.</a:t>
            </a:r>
          </a:p>
        </p:txBody>
      </p:sp>
      <p:sp>
        <p:nvSpPr>
          <p:cNvPr id="6" name="">
            <a:extLst xmlns:a="http://schemas.openxmlformats.org/drawingml/2006/main">
              <a:ext uri="{FF2B5EF4-FFF2-40B4-BE49-F238E27FC236}">
                <a16:creationId xmlns:a16="http://schemas.microsoft.com/office/drawing/2014/main" id="{029A1A1F-5038-414E-9007-AFC198702A2A}"/>
              </a:ext>
            </a:extLst>
          </p:cNvPr>
          <p:cNvSpPr>
            <a:spLocks xmlns:a="http://schemas.openxmlformats.org/drawingml/2006/main" noGrp="1"/>
          </p:cNvSpPr>
          <p:nvPr/>
        </p:nvSpPr>
        <p:spPr>
          <a:xfrm xmlns:a="http://schemas.openxmlformats.org/drawingml/2006/main">
            <a:off x="1000125" y="3495675"/>
            <a:ext cx="9810750" cy="28575"/>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826527-9C9B-4BB3-8205-68E25220ABD3}"/>
              </a:ext>
            </a:extLst>
          </p:cNvPr>
          <p:cNvSpPr>
            <a:spLocks xmlns:a="http://schemas.openxmlformats.org/drawingml/2006/main" noGrp="1"/>
          </p:cNvSpPr>
          <p:nvPr/>
        </p:nvSpPr>
        <p:spPr>
          <a:xfrm xmlns:a="http://schemas.openxmlformats.org/drawingml/2006/main">
            <a:off x="723900" y="3171825"/>
            <a:ext cx="647700" cy="6477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52B00B-66A2-48A4-9605-93704CB2B1C4}"/>
              </a:ext>
            </a:extLst>
          </p:cNvPr>
          <p:cNvSpPr>
            <a:spLocks xmlns:a="http://schemas.openxmlformats.org/drawingml/2006/main" noGrp="1"/>
          </p:cNvSpPr>
          <p:nvPr/>
        </p:nvSpPr>
        <p:spPr>
          <a:xfrm xmlns:a="http://schemas.openxmlformats.org/drawingml/2006/main">
            <a:off x="723900" y="33337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A8EA4EF-8EDA-45C3-9CA3-7AB30259D592}"/>
              </a:ext>
            </a:extLst>
          </p:cNvPr>
          <p:cNvSpPr>
            <a:spLocks xmlns:a="http://schemas.openxmlformats.org/drawingml/2006/main" noGrp="1"/>
          </p:cNvSpPr>
          <p:nvPr/>
        </p:nvSpPr>
        <p:spPr>
          <a:xfrm xmlns:a="http://schemas.openxmlformats.org/drawingml/2006/main">
            <a:off x="723900" y="4114800"/>
            <a:ext cx="152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Upload</a:t>
            </a:r>
          </a:p>
        </p:txBody>
      </p:sp>
      <p:sp>
        <p:nvSpPr>
          <p:cNvPr id="10" name="">
            <a:extLst xmlns:a="http://schemas.openxmlformats.org/drawingml/2006/main">
              <a:ext uri="{FF2B5EF4-FFF2-40B4-BE49-F238E27FC236}">
                <a16:creationId xmlns:a16="http://schemas.microsoft.com/office/drawing/2014/main" id="{9756CAFA-70AA-4DD4-A457-99B7F9F7C43F}"/>
              </a:ext>
            </a:extLst>
          </p:cNvPr>
          <p:cNvSpPr>
            <a:spLocks xmlns:a="http://schemas.openxmlformats.org/drawingml/2006/main" noGrp="1"/>
          </p:cNvSpPr>
          <p:nvPr/>
        </p:nvSpPr>
        <p:spPr>
          <a:xfrm xmlns:a="http://schemas.openxmlformats.org/drawingml/2006/main">
            <a:off x="723900" y="4514850"/>
            <a:ext cx="1666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5C5C5C"/>
                </a:solidFill>
                <a:latin typeface="Arial"/>
                <a:ea typeface="Arial"/>
                <a:cs typeface="Arial"/>
              </a:defRPr>
            </a:pPr>
            <a:r>
              <a:rPr sz="1275" b="0">
                <a:solidFill>
                  <a:srgbClr val="5C5C5C"/>
                </a:solidFill>
                <a:latin typeface="Arial"/>
                <a:ea typeface="Arial"/>
                <a:cs typeface="Arial"/>
              </a:rPr>
              <a:t>Text, audio or video</a:t>
            </a:r>
          </a:p>
        </p:txBody>
      </p:sp>
      <p:sp>
        <p:nvSpPr>
          <p:cNvPr id="11" name="">
            <a:extLst xmlns:a="http://schemas.openxmlformats.org/drawingml/2006/main">
              <a:ext uri="{FF2B5EF4-FFF2-40B4-BE49-F238E27FC236}">
                <a16:creationId xmlns:a16="http://schemas.microsoft.com/office/drawing/2014/main" id="{B114CF68-38F8-4838-A1B0-0827EEAA3B62}"/>
              </a:ext>
            </a:extLst>
          </p:cNvPr>
          <p:cNvSpPr>
            <a:spLocks xmlns:a="http://schemas.openxmlformats.org/drawingml/2006/main" noGrp="1"/>
          </p:cNvSpPr>
          <p:nvPr/>
        </p:nvSpPr>
        <p:spPr>
          <a:xfrm xmlns:a="http://schemas.openxmlformats.org/drawingml/2006/main">
            <a:off x="2838450" y="3171825"/>
            <a:ext cx="647700" cy="6477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DAADEF6-1B5E-49A7-82F4-9ABD5FEA6C7D}"/>
              </a:ext>
            </a:extLst>
          </p:cNvPr>
          <p:cNvSpPr>
            <a:spLocks xmlns:a="http://schemas.openxmlformats.org/drawingml/2006/main" noGrp="1"/>
          </p:cNvSpPr>
          <p:nvPr/>
        </p:nvSpPr>
        <p:spPr>
          <a:xfrm xmlns:a="http://schemas.openxmlformats.org/drawingml/2006/main">
            <a:off x="2838450" y="33337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B64246AE-F65B-4FF2-8CA7-1920BA1679CF}"/>
              </a:ext>
            </a:extLst>
          </p:cNvPr>
          <p:cNvSpPr>
            <a:spLocks xmlns:a="http://schemas.openxmlformats.org/drawingml/2006/main" noGrp="1"/>
          </p:cNvSpPr>
          <p:nvPr/>
        </p:nvSpPr>
        <p:spPr>
          <a:xfrm xmlns:a="http://schemas.openxmlformats.org/drawingml/2006/main">
            <a:off x="2838450" y="4114800"/>
            <a:ext cx="152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Recognise</a:t>
            </a:r>
          </a:p>
        </p:txBody>
      </p:sp>
      <p:sp>
        <p:nvSpPr>
          <p:cNvPr id="14" name="">
            <a:extLst xmlns:a="http://schemas.openxmlformats.org/drawingml/2006/main">
              <a:ext uri="{FF2B5EF4-FFF2-40B4-BE49-F238E27FC236}">
                <a16:creationId xmlns:a16="http://schemas.microsoft.com/office/drawing/2014/main" id="{6ED7CE1E-B01F-4F7B-8474-B1CBA31309C1}"/>
              </a:ext>
            </a:extLst>
          </p:cNvPr>
          <p:cNvSpPr>
            <a:spLocks xmlns:a="http://schemas.openxmlformats.org/drawingml/2006/main" noGrp="1"/>
          </p:cNvSpPr>
          <p:nvPr/>
        </p:nvSpPr>
        <p:spPr>
          <a:xfrm xmlns:a="http://schemas.openxmlformats.org/drawingml/2006/main">
            <a:off x="2838450" y="4514850"/>
            <a:ext cx="1666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5C5C5C"/>
                </a:solidFill>
                <a:latin typeface="Arial"/>
                <a:ea typeface="Arial"/>
                <a:cs typeface="Arial"/>
              </a:defRPr>
            </a:pPr>
            <a:r>
              <a:rPr sz="1275" b="0">
                <a:solidFill>
                  <a:srgbClr val="5C5C5C"/>
                </a:solidFill>
                <a:latin typeface="Arial"/>
                <a:ea typeface="Arial"/>
                <a:cs typeface="Arial"/>
              </a:rPr>
              <a:t>Create a timed transcript</a:t>
            </a:r>
          </a:p>
        </p:txBody>
      </p:sp>
      <p:sp>
        <p:nvSpPr>
          <p:cNvPr id="15" name="">
            <a:extLst xmlns:a="http://schemas.openxmlformats.org/drawingml/2006/main">
              <a:ext uri="{FF2B5EF4-FFF2-40B4-BE49-F238E27FC236}">
                <a16:creationId xmlns:a16="http://schemas.microsoft.com/office/drawing/2014/main" id="{88E3FDC3-C7C7-4BDD-A8F7-3ED2ACB280C6}"/>
              </a:ext>
            </a:extLst>
          </p:cNvPr>
          <p:cNvSpPr>
            <a:spLocks xmlns:a="http://schemas.openxmlformats.org/drawingml/2006/main" noGrp="1"/>
          </p:cNvSpPr>
          <p:nvPr/>
        </p:nvSpPr>
        <p:spPr>
          <a:xfrm xmlns:a="http://schemas.openxmlformats.org/drawingml/2006/main">
            <a:off x="4953000" y="3171825"/>
            <a:ext cx="647700" cy="6477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6CB7F95-FDDB-473D-A9DE-D58C708ADBAA}"/>
              </a:ext>
            </a:extLst>
          </p:cNvPr>
          <p:cNvSpPr>
            <a:spLocks xmlns:a="http://schemas.openxmlformats.org/drawingml/2006/main" noGrp="1"/>
          </p:cNvSpPr>
          <p:nvPr/>
        </p:nvSpPr>
        <p:spPr>
          <a:xfrm xmlns:a="http://schemas.openxmlformats.org/drawingml/2006/main">
            <a:off x="4953000" y="33337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B2BA5DB9-6F60-4E30-BBDF-6E9B50C41730}"/>
              </a:ext>
            </a:extLst>
          </p:cNvPr>
          <p:cNvSpPr>
            <a:spLocks xmlns:a="http://schemas.openxmlformats.org/drawingml/2006/main" noGrp="1"/>
          </p:cNvSpPr>
          <p:nvPr/>
        </p:nvSpPr>
        <p:spPr>
          <a:xfrm xmlns:a="http://schemas.openxmlformats.org/drawingml/2006/main">
            <a:off x="4953000" y="4114800"/>
            <a:ext cx="152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Translate</a:t>
            </a:r>
          </a:p>
        </p:txBody>
      </p:sp>
      <p:sp>
        <p:nvSpPr>
          <p:cNvPr id="18" name="">
            <a:extLst xmlns:a="http://schemas.openxmlformats.org/drawingml/2006/main">
              <a:ext uri="{FF2B5EF4-FFF2-40B4-BE49-F238E27FC236}">
                <a16:creationId xmlns:a16="http://schemas.microsoft.com/office/drawing/2014/main" id="{9D49BA52-3525-47FF-88ED-77880EC67150}"/>
              </a:ext>
            </a:extLst>
          </p:cNvPr>
          <p:cNvSpPr>
            <a:spLocks xmlns:a="http://schemas.openxmlformats.org/drawingml/2006/main" noGrp="1"/>
          </p:cNvSpPr>
          <p:nvPr/>
        </p:nvSpPr>
        <p:spPr>
          <a:xfrm xmlns:a="http://schemas.openxmlformats.org/drawingml/2006/main">
            <a:off x="4953000" y="4514850"/>
            <a:ext cx="1666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5C5C5C"/>
                </a:solidFill>
                <a:latin typeface="Arial"/>
                <a:ea typeface="Arial"/>
                <a:cs typeface="Arial"/>
              </a:defRPr>
            </a:pPr>
            <a:r>
              <a:rPr sz="1275" b="0">
                <a:solidFill>
                  <a:srgbClr val="5C5C5C"/>
                </a:solidFill>
                <a:latin typeface="Arial"/>
                <a:ea typeface="Arial"/>
                <a:cs typeface="Arial"/>
              </a:rPr>
              <a:t>Convert to the chosen language</a:t>
            </a:r>
          </a:p>
        </p:txBody>
      </p:sp>
      <p:sp>
        <p:nvSpPr>
          <p:cNvPr id="19" name="">
            <a:extLst xmlns:a="http://schemas.openxmlformats.org/drawingml/2006/main">
              <a:ext uri="{FF2B5EF4-FFF2-40B4-BE49-F238E27FC236}">
                <a16:creationId xmlns:a16="http://schemas.microsoft.com/office/drawing/2014/main" id="{963DFE5B-DEA2-4DD9-A231-5A3F9ADECD6F}"/>
              </a:ext>
            </a:extLst>
          </p:cNvPr>
          <p:cNvSpPr>
            <a:spLocks xmlns:a="http://schemas.openxmlformats.org/drawingml/2006/main" noGrp="1"/>
          </p:cNvSpPr>
          <p:nvPr/>
        </p:nvSpPr>
        <p:spPr>
          <a:xfrm xmlns:a="http://schemas.openxmlformats.org/drawingml/2006/main">
            <a:off x="7067550" y="3171825"/>
            <a:ext cx="647700" cy="6477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36E480-B9DE-4E6E-974A-E3B82E8B401E}"/>
              </a:ext>
            </a:extLst>
          </p:cNvPr>
          <p:cNvSpPr>
            <a:spLocks xmlns:a="http://schemas.openxmlformats.org/drawingml/2006/main" noGrp="1"/>
          </p:cNvSpPr>
          <p:nvPr/>
        </p:nvSpPr>
        <p:spPr>
          <a:xfrm xmlns:a="http://schemas.openxmlformats.org/drawingml/2006/main">
            <a:off x="7067550" y="33337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D533B6FD-E941-4097-8227-3F25DB735F1E}"/>
              </a:ext>
            </a:extLst>
          </p:cNvPr>
          <p:cNvSpPr>
            <a:spLocks xmlns:a="http://schemas.openxmlformats.org/drawingml/2006/main" noGrp="1"/>
          </p:cNvSpPr>
          <p:nvPr/>
        </p:nvSpPr>
        <p:spPr>
          <a:xfrm xmlns:a="http://schemas.openxmlformats.org/drawingml/2006/main">
            <a:off x="7067550" y="4114800"/>
            <a:ext cx="152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Generate</a:t>
            </a:r>
          </a:p>
        </p:txBody>
      </p:sp>
      <p:sp>
        <p:nvSpPr>
          <p:cNvPr id="22" name="">
            <a:extLst xmlns:a="http://schemas.openxmlformats.org/drawingml/2006/main">
              <a:ext uri="{FF2B5EF4-FFF2-40B4-BE49-F238E27FC236}">
                <a16:creationId xmlns:a16="http://schemas.microsoft.com/office/drawing/2014/main" id="{3529026A-8674-440A-9C89-72518E615921}"/>
              </a:ext>
            </a:extLst>
          </p:cNvPr>
          <p:cNvSpPr>
            <a:spLocks xmlns:a="http://schemas.openxmlformats.org/drawingml/2006/main" noGrp="1"/>
          </p:cNvSpPr>
          <p:nvPr/>
        </p:nvSpPr>
        <p:spPr>
          <a:xfrm xmlns:a="http://schemas.openxmlformats.org/drawingml/2006/main">
            <a:off x="7067550" y="4514850"/>
            <a:ext cx="1666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5C5C5C"/>
                </a:solidFill>
                <a:latin typeface="Arial"/>
                <a:ea typeface="Arial"/>
                <a:cs typeface="Arial"/>
              </a:defRPr>
            </a:pPr>
            <a:r>
              <a:rPr sz="1275" b="0">
                <a:solidFill>
                  <a:srgbClr val="5C5C5C"/>
                </a:solidFill>
                <a:latin typeface="Arial"/>
                <a:ea typeface="Arial"/>
                <a:cs typeface="Arial"/>
              </a:rPr>
              <a:t>Create voice and subtitles</a:t>
            </a:r>
          </a:p>
        </p:txBody>
      </p:sp>
      <p:sp>
        <p:nvSpPr>
          <p:cNvPr id="23" name="">
            <a:extLst xmlns:a="http://schemas.openxmlformats.org/drawingml/2006/main">
              <a:ext uri="{FF2B5EF4-FFF2-40B4-BE49-F238E27FC236}">
                <a16:creationId xmlns:a16="http://schemas.microsoft.com/office/drawing/2014/main" id="{CF870E72-8FD2-4C07-AA20-0D247A37028C}"/>
              </a:ext>
            </a:extLst>
          </p:cNvPr>
          <p:cNvSpPr>
            <a:spLocks xmlns:a="http://schemas.openxmlformats.org/drawingml/2006/main" noGrp="1"/>
          </p:cNvSpPr>
          <p:nvPr/>
        </p:nvSpPr>
        <p:spPr>
          <a:xfrm xmlns:a="http://schemas.openxmlformats.org/drawingml/2006/main">
            <a:off x="9182100" y="3171825"/>
            <a:ext cx="647700" cy="64770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C88C449-2CCE-46C0-91A0-56CDC4A1399D}"/>
              </a:ext>
            </a:extLst>
          </p:cNvPr>
          <p:cNvSpPr>
            <a:spLocks xmlns:a="http://schemas.openxmlformats.org/drawingml/2006/main" noGrp="1"/>
          </p:cNvSpPr>
          <p:nvPr/>
        </p:nvSpPr>
        <p:spPr>
          <a:xfrm xmlns:a="http://schemas.openxmlformats.org/drawingml/2006/main">
            <a:off x="9182100" y="33337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1F1700A7-19E4-4085-B73A-AAD8F379CA57}"/>
              </a:ext>
            </a:extLst>
          </p:cNvPr>
          <p:cNvSpPr>
            <a:spLocks xmlns:a="http://schemas.openxmlformats.org/drawingml/2006/main" noGrp="1"/>
          </p:cNvSpPr>
          <p:nvPr/>
        </p:nvSpPr>
        <p:spPr>
          <a:xfrm xmlns:a="http://schemas.openxmlformats.org/drawingml/2006/main">
            <a:off x="9182100" y="4114800"/>
            <a:ext cx="152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p xmlns:a="http://schemas.openxmlformats.org/drawingml/2006/main">
            <a:pPr algn="l">
              <a:defRPr sz="1575" b="1">
                <a:solidFill>
                  <a:srgbClr val="333333"/>
                </a:solidFill>
                <a:latin typeface="Arial"/>
                <a:ea typeface="Arial"/>
                <a:cs typeface="Arial"/>
              </a:defRPr>
            </a:pPr>
            <a:r>
              <a:rPr sz="1575" b="1">
                <a:solidFill>
                  <a:srgbClr val="333333"/>
                </a:solidFill>
                <a:latin typeface="Arial"/>
                <a:ea typeface="Arial"/>
                <a:cs typeface="Arial"/>
              </a:rPr>
              <a:t>Deliver</a:t>
            </a:r>
          </a:p>
        </p:txBody>
      </p:sp>
      <p:sp>
        <p:nvSpPr>
          <p:cNvPr id="26" name="">
            <a:extLst xmlns:a="http://schemas.openxmlformats.org/drawingml/2006/main">
              <a:ext uri="{FF2B5EF4-FFF2-40B4-BE49-F238E27FC236}">
                <a16:creationId xmlns:a16="http://schemas.microsoft.com/office/drawing/2014/main" id="{51075D6E-7A19-4A0F-B95D-91017F347039}"/>
              </a:ext>
            </a:extLst>
          </p:cNvPr>
          <p:cNvSpPr>
            <a:spLocks xmlns:a="http://schemas.openxmlformats.org/drawingml/2006/main" noGrp="1"/>
          </p:cNvSpPr>
          <p:nvPr/>
        </p:nvSpPr>
        <p:spPr>
          <a:xfrm xmlns:a="http://schemas.openxmlformats.org/drawingml/2006/main">
            <a:off x="9182100" y="4514850"/>
            <a:ext cx="1666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5C5C5C"/>
                </a:solidFill>
                <a:latin typeface="Arial"/>
                <a:ea typeface="Arial"/>
                <a:cs typeface="Arial"/>
              </a:defRPr>
            </a:pPr>
            <a:r>
              <a:rPr sz="1275" b="0">
                <a:solidFill>
                  <a:srgbClr val="5C5C5C"/>
                </a:solidFill>
                <a:latin typeface="Arial"/>
                <a:ea typeface="Arial"/>
                <a:cs typeface="Arial"/>
              </a:rPr>
              <a:t>Download text, audio and video</a:t>
            </a:r>
          </a:p>
        </p:txBody>
      </p:sp>
      <p:sp>
        <p:nvSpPr>
          <p:cNvPr id="27" name="">
            <a:extLst xmlns:a="http://schemas.openxmlformats.org/drawingml/2006/main">
              <a:ext uri="{FF2B5EF4-FFF2-40B4-BE49-F238E27FC236}">
                <a16:creationId xmlns:a16="http://schemas.microsoft.com/office/drawing/2014/main" id="{3BB9F8B0-3471-47B2-83EC-34A9F4D3475B}"/>
              </a:ext>
            </a:extLst>
          </p:cNvPr>
          <p:cNvSpPr>
            <a:spLocks xmlns:a="http://schemas.openxmlformats.org/drawingml/2006/main" noGrp="1"/>
          </p:cNvSpPr>
          <p:nvPr/>
        </p:nvSpPr>
        <p:spPr>
          <a:xfrm xmlns:a="http://schemas.openxmlformats.org/drawingml/2006/main">
            <a:off x="647700" y="56673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498"/>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The system selects the local processing route automatically. The user only needs to select the languages and start the job.</a:t>
            </a:r>
          </a:p>
        </p:txBody>
      </p:sp>
    </p:spTree>
    <p:extLst>
      <p:ext uri="{BB962C8B-B14F-4D97-AF65-F5344CB8AC3E}">
        <p14:creationId xmlns:p14="http://schemas.microsoft.com/office/powerpoint/2010/main" val="17962562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F4AF33B-C1F2-4D4F-94E9-4A7DD4145B0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871464-80F1-4E48-985D-8CDE1D612FFA}"/>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Inputs and outputs</a:t>
            </a:r>
          </a:p>
        </p:txBody>
      </p:sp>
      <p:sp>
        <p:nvSpPr>
          <p:cNvPr id="3" name="">
            <a:extLst xmlns:a="http://schemas.openxmlformats.org/drawingml/2006/main">
              <a:ext uri="{FF2B5EF4-FFF2-40B4-BE49-F238E27FC236}">
                <a16:creationId xmlns:a16="http://schemas.microsoft.com/office/drawing/2014/main" id="{39FDE62E-07D3-47AF-AC8C-0A986A5DBDEE}"/>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0E6A7A-A172-44C1-83E2-0EE327BE708A}"/>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7F10490-2796-4F57-9865-634849C7FFC6}"/>
              </a:ext>
            </a:extLst>
          </p:cNvPr>
          <p:cNvSpPr>
            <a:spLocks xmlns:a="http://schemas.openxmlformats.org/drawingml/2006/main" noGrp="1"/>
          </p:cNvSpPr>
          <p:nvPr/>
        </p:nvSpPr>
        <p:spPr>
          <a:xfrm xmlns:a="http://schemas.openxmlformats.org/drawingml/2006/main">
            <a:off x="647700" y="1790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Input</a:t>
            </a:r>
          </a:p>
        </p:txBody>
      </p:sp>
      <p:sp>
        <p:nvSpPr>
          <p:cNvPr id="6" name="">
            <a:extLst xmlns:a="http://schemas.openxmlformats.org/drawingml/2006/main">
              <a:ext uri="{FF2B5EF4-FFF2-40B4-BE49-F238E27FC236}">
                <a16:creationId xmlns:a16="http://schemas.microsoft.com/office/drawing/2014/main" id="{D63E96C6-06DC-471B-A856-D7272C58B3DE}"/>
              </a:ext>
            </a:extLst>
          </p:cNvPr>
          <p:cNvSpPr>
            <a:spLocks xmlns:a="http://schemas.openxmlformats.org/drawingml/2006/main" noGrp="1"/>
          </p:cNvSpPr>
          <p:nvPr/>
        </p:nvSpPr>
        <p:spPr>
          <a:xfrm xmlns:a="http://schemas.openxmlformats.org/drawingml/2006/main">
            <a:off x="6667500" y="1790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Output</a:t>
            </a:r>
          </a:p>
        </p:txBody>
      </p:sp>
      <p:sp>
        <p:nvSpPr>
          <p:cNvPr id="7" name="">
            <a:extLst xmlns:a="http://schemas.openxmlformats.org/drawingml/2006/main">
              <a:ext uri="{FF2B5EF4-FFF2-40B4-BE49-F238E27FC236}">
                <a16:creationId xmlns:a16="http://schemas.microsoft.com/office/drawing/2014/main" id="{F75829BB-AB49-422C-9A19-036A6FBE0EA3}"/>
              </a:ext>
            </a:extLst>
          </p:cNvPr>
          <p:cNvSpPr>
            <a:spLocks xmlns:a="http://schemas.openxmlformats.org/drawingml/2006/main" noGrp="1"/>
          </p:cNvSpPr>
          <p:nvPr/>
        </p:nvSpPr>
        <p:spPr>
          <a:xfrm xmlns:a="http://schemas.openxmlformats.org/drawingml/2006/main">
            <a:off x="5943600" y="1714500"/>
            <a:ext cx="9525" cy="400050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05B07E-D815-462D-8D0F-63E187D972F0}"/>
              </a:ext>
            </a:extLst>
          </p:cNvPr>
          <p:cNvSpPr>
            <a:spLocks xmlns:a="http://schemas.openxmlformats.org/drawingml/2006/main" noGrp="1"/>
          </p:cNvSpPr>
          <p:nvPr/>
        </p:nvSpPr>
        <p:spPr>
          <a:xfrm xmlns:a="http://schemas.openxmlformats.org/drawingml/2006/main">
            <a:off x="647700" y="24003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000"/>
          </a:bodyPr>
          <a:lstStyle xmlns:a="http://schemas.openxmlformats.org/drawingml/2006/main"/>
          <a:p xmlns:a="http://schemas.openxmlformats.org/drawingml/2006/main">
            <a:pPr algn="l">
              <a:defRPr sz="1875" b="1">
                <a:solidFill>
                  <a:srgbClr val="333333"/>
                </a:solidFill>
                <a:latin typeface="Arial"/>
                <a:ea typeface="Arial"/>
                <a:cs typeface="Arial"/>
              </a:defRPr>
            </a:pPr>
            <a:r>
              <a:rPr sz="1875" b="1">
                <a:solidFill>
                  <a:srgbClr val="333333"/>
                </a:solidFill>
                <a:latin typeface="Arial"/>
                <a:ea typeface="Arial"/>
                <a:cs typeface="Arial"/>
              </a:rPr>
              <a:t>Text</a:t>
            </a:r>
          </a:p>
        </p:txBody>
      </p:sp>
      <p:sp>
        <p:nvSpPr>
          <p:cNvPr id="9" name="">
            <a:extLst xmlns:a="http://schemas.openxmlformats.org/drawingml/2006/main">
              <a:ext uri="{FF2B5EF4-FFF2-40B4-BE49-F238E27FC236}">
                <a16:creationId xmlns:a16="http://schemas.microsoft.com/office/drawing/2014/main" id="{9C59898A-BFB0-4B5F-89A1-EA4C85B7A9CC}"/>
              </a:ext>
            </a:extLst>
          </p:cNvPr>
          <p:cNvSpPr>
            <a:spLocks xmlns:a="http://schemas.openxmlformats.org/drawingml/2006/main" noGrp="1"/>
          </p:cNvSpPr>
          <p:nvPr/>
        </p:nvSpPr>
        <p:spPr>
          <a:xfrm xmlns:a="http://schemas.openxmlformats.org/drawingml/2006/main">
            <a:off x="647700" y="28003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lgn="l">
              <a:defRPr sz="1500" b="0">
                <a:solidFill>
                  <a:srgbClr val="5C5C5C"/>
                </a:solidFill>
                <a:latin typeface="Arial"/>
                <a:ea typeface="Arial"/>
                <a:cs typeface="Arial"/>
              </a:defRPr>
            </a:pPr>
            <a:r>
              <a:rPr sz="1500" b="0">
                <a:solidFill>
                  <a:srgbClr val="5C5C5C"/>
                </a:solidFill>
                <a:latin typeface="Arial"/>
                <a:ea typeface="Arial"/>
                <a:cs typeface="Arial"/>
              </a:rPr>
              <a:t>Written English, Hindi or Marathi</a:t>
            </a:r>
          </a:p>
        </p:txBody>
      </p:sp>
      <p:sp>
        <p:nvSpPr>
          <p:cNvPr id="10" name="">
            <a:extLst xmlns:a="http://schemas.openxmlformats.org/drawingml/2006/main">
              <a:ext uri="{FF2B5EF4-FFF2-40B4-BE49-F238E27FC236}">
                <a16:creationId xmlns:a16="http://schemas.microsoft.com/office/drawing/2014/main" id="{33D133E3-A251-42DE-9595-1CC82C87C77B}"/>
              </a:ext>
            </a:extLst>
          </p:cNvPr>
          <p:cNvSpPr>
            <a:spLocks xmlns:a="http://schemas.openxmlformats.org/drawingml/2006/main" noGrp="1"/>
          </p:cNvSpPr>
          <p:nvPr/>
        </p:nvSpPr>
        <p:spPr>
          <a:xfrm xmlns:a="http://schemas.openxmlformats.org/drawingml/2006/main">
            <a:off x="647700" y="3524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000"/>
          </a:bodyPr>
          <a:lstStyle xmlns:a="http://schemas.openxmlformats.org/drawingml/2006/main"/>
          <a:p xmlns:a="http://schemas.openxmlformats.org/drawingml/2006/main">
            <a:pPr algn="l">
              <a:defRPr sz="1875" b="1">
                <a:solidFill>
                  <a:srgbClr val="333333"/>
                </a:solidFill>
                <a:latin typeface="Arial"/>
                <a:ea typeface="Arial"/>
                <a:cs typeface="Arial"/>
              </a:defRPr>
            </a:pPr>
            <a:r>
              <a:rPr sz="1875" b="1">
                <a:solidFill>
                  <a:srgbClr val="333333"/>
                </a:solidFill>
                <a:latin typeface="Arial"/>
                <a:ea typeface="Arial"/>
                <a:cs typeface="Arial"/>
              </a:rPr>
              <a:t>Audio</a:t>
            </a:r>
          </a:p>
        </p:txBody>
      </p:sp>
      <p:sp>
        <p:nvSpPr>
          <p:cNvPr id="11" name="">
            <a:extLst xmlns:a="http://schemas.openxmlformats.org/drawingml/2006/main">
              <a:ext uri="{FF2B5EF4-FFF2-40B4-BE49-F238E27FC236}">
                <a16:creationId xmlns:a16="http://schemas.microsoft.com/office/drawing/2014/main" id="{F517CF79-17B1-4B4F-8690-26F97711F752}"/>
              </a:ext>
            </a:extLst>
          </p:cNvPr>
          <p:cNvSpPr>
            <a:spLocks xmlns:a="http://schemas.openxmlformats.org/drawingml/2006/main" noGrp="1"/>
          </p:cNvSpPr>
          <p:nvPr/>
        </p:nvSpPr>
        <p:spPr>
          <a:xfrm xmlns:a="http://schemas.openxmlformats.org/drawingml/2006/main">
            <a:off x="647700" y="39243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333"/>
          </a:bodyPr>
          <a:lstStyle xmlns:a="http://schemas.openxmlformats.org/drawingml/2006/main"/>
          <a:p xmlns:a="http://schemas.openxmlformats.org/drawingml/2006/main">
            <a:pPr algn="l">
              <a:defRPr sz="1500" b="0">
                <a:solidFill>
                  <a:srgbClr val="5C5C5C"/>
                </a:solidFill>
                <a:latin typeface="Arial"/>
                <a:ea typeface="Arial"/>
                <a:cs typeface="Arial"/>
              </a:defRPr>
            </a:pPr>
            <a:r>
              <a:rPr sz="1500" b="0">
                <a:solidFill>
                  <a:srgbClr val="5C5C5C"/>
                </a:solidFill>
                <a:latin typeface="Arial"/>
                <a:ea typeface="Arial"/>
                <a:cs typeface="Arial"/>
              </a:rPr>
              <a:t>MP3, WAV, AAC, M4A, FLAC, WMA and OGG</a:t>
            </a:r>
          </a:p>
        </p:txBody>
      </p:sp>
      <p:sp>
        <p:nvSpPr>
          <p:cNvPr id="12" name="">
            <a:extLst xmlns:a="http://schemas.openxmlformats.org/drawingml/2006/main">
              <a:ext uri="{FF2B5EF4-FFF2-40B4-BE49-F238E27FC236}">
                <a16:creationId xmlns:a16="http://schemas.microsoft.com/office/drawing/2014/main" id="{8F92C27D-55C5-46F7-AE1C-7ECAB4356A85}"/>
              </a:ext>
            </a:extLst>
          </p:cNvPr>
          <p:cNvSpPr>
            <a:spLocks xmlns:a="http://schemas.openxmlformats.org/drawingml/2006/main" noGrp="1"/>
          </p:cNvSpPr>
          <p:nvPr/>
        </p:nvSpPr>
        <p:spPr>
          <a:xfrm xmlns:a="http://schemas.openxmlformats.org/drawingml/2006/main">
            <a:off x="647700" y="46482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000"/>
          </a:bodyPr>
          <a:lstStyle xmlns:a="http://schemas.openxmlformats.org/drawingml/2006/main"/>
          <a:p xmlns:a="http://schemas.openxmlformats.org/drawingml/2006/main">
            <a:pPr algn="l">
              <a:defRPr sz="1875" b="1">
                <a:solidFill>
                  <a:srgbClr val="333333"/>
                </a:solidFill>
                <a:latin typeface="Arial"/>
                <a:ea typeface="Arial"/>
                <a:cs typeface="Arial"/>
              </a:defRPr>
            </a:pPr>
            <a:r>
              <a:rPr sz="1875" b="1">
                <a:solidFill>
                  <a:srgbClr val="333333"/>
                </a:solidFill>
                <a:latin typeface="Arial"/>
                <a:ea typeface="Arial"/>
                <a:cs typeface="Arial"/>
              </a:rPr>
              <a:t>Video</a:t>
            </a:r>
          </a:p>
        </p:txBody>
      </p:sp>
      <p:sp>
        <p:nvSpPr>
          <p:cNvPr id="13" name="">
            <a:extLst xmlns:a="http://schemas.openxmlformats.org/drawingml/2006/main">
              <a:ext uri="{FF2B5EF4-FFF2-40B4-BE49-F238E27FC236}">
                <a16:creationId xmlns:a16="http://schemas.microsoft.com/office/drawing/2014/main" id="{BE413A67-2B15-4874-90F6-559649C7208C}"/>
              </a:ext>
            </a:extLst>
          </p:cNvPr>
          <p:cNvSpPr>
            <a:spLocks xmlns:a="http://schemas.openxmlformats.org/drawingml/2006/main" noGrp="1"/>
          </p:cNvSpPr>
          <p:nvPr/>
        </p:nvSpPr>
        <p:spPr>
          <a:xfrm xmlns:a="http://schemas.openxmlformats.org/drawingml/2006/main">
            <a:off x="647700" y="5048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333"/>
          </a:bodyPr>
          <a:lstStyle xmlns:a="http://schemas.openxmlformats.org/drawingml/2006/main"/>
          <a:p xmlns:a="http://schemas.openxmlformats.org/drawingml/2006/main">
            <a:pPr algn="l">
              <a:defRPr sz="1500" b="0">
                <a:solidFill>
                  <a:srgbClr val="5C5C5C"/>
                </a:solidFill>
                <a:latin typeface="Arial"/>
                <a:ea typeface="Arial"/>
                <a:cs typeface="Arial"/>
              </a:defRPr>
            </a:pPr>
            <a:r>
              <a:rPr sz="1500" b="0">
                <a:solidFill>
                  <a:srgbClr val="5C5C5C"/>
                </a:solidFill>
                <a:latin typeface="Arial"/>
                <a:ea typeface="Arial"/>
                <a:cs typeface="Arial"/>
              </a:rPr>
              <a:t>MP4, MOV, AVI, WMV, MKV, FLV and WebM</a:t>
            </a:r>
          </a:p>
        </p:txBody>
      </p:sp>
      <p:sp>
        <p:nvSpPr>
          <p:cNvPr id="14" name="">
            <a:extLst xmlns:a="http://schemas.openxmlformats.org/drawingml/2006/main">
              <a:ext uri="{FF2B5EF4-FFF2-40B4-BE49-F238E27FC236}">
                <a16:creationId xmlns:a16="http://schemas.microsoft.com/office/drawing/2014/main" id="{1EDFE949-9F4B-4A78-8D9C-F768BCD33D27}"/>
              </a:ext>
            </a:extLst>
          </p:cNvPr>
          <p:cNvSpPr>
            <a:spLocks xmlns:a="http://schemas.openxmlformats.org/drawingml/2006/main" noGrp="1"/>
          </p:cNvSpPr>
          <p:nvPr/>
        </p:nvSpPr>
        <p:spPr>
          <a:xfrm xmlns:a="http://schemas.openxmlformats.org/drawingml/2006/main">
            <a:off x="6667500" y="2381250"/>
            <a:ext cx="133350" cy="1333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CE87ED1-7916-4782-9643-315F0E3BAC21}"/>
              </a:ext>
            </a:extLst>
          </p:cNvPr>
          <p:cNvSpPr>
            <a:spLocks xmlns:a="http://schemas.openxmlformats.org/drawingml/2006/main" noGrp="1"/>
          </p:cNvSpPr>
          <p:nvPr/>
        </p:nvSpPr>
        <p:spPr>
          <a:xfrm xmlns:a="http://schemas.openxmlformats.org/drawingml/2006/main">
            <a:off x="7029450" y="2333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Translated text and JSON</a:t>
            </a:r>
          </a:p>
        </p:txBody>
      </p:sp>
      <p:sp>
        <p:nvSpPr>
          <p:cNvPr id="16" name="">
            <a:extLst xmlns:a="http://schemas.openxmlformats.org/drawingml/2006/main">
              <a:ext uri="{FF2B5EF4-FFF2-40B4-BE49-F238E27FC236}">
                <a16:creationId xmlns:a16="http://schemas.microsoft.com/office/drawing/2014/main" id="{3070C0F4-8655-4FB3-99D6-9ECAF2BBE713}"/>
              </a:ext>
            </a:extLst>
          </p:cNvPr>
          <p:cNvSpPr>
            <a:spLocks xmlns:a="http://schemas.openxmlformats.org/drawingml/2006/main" noGrp="1"/>
          </p:cNvSpPr>
          <p:nvPr/>
        </p:nvSpPr>
        <p:spPr>
          <a:xfrm xmlns:a="http://schemas.openxmlformats.org/drawingml/2006/main">
            <a:off x="7029450" y="2743200"/>
            <a:ext cx="40005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67AC06F-3ECB-4180-93C0-D8773178DF74}"/>
              </a:ext>
            </a:extLst>
          </p:cNvPr>
          <p:cNvSpPr>
            <a:spLocks xmlns:a="http://schemas.openxmlformats.org/drawingml/2006/main" noGrp="1"/>
          </p:cNvSpPr>
          <p:nvPr/>
        </p:nvSpPr>
        <p:spPr>
          <a:xfrm xmlns:a="http://schemas.openxmlformats.org/drawingml/2006/main">
            <a:off x="6667500" y="3009900"/>
            <a:ext cx="133350" cy="1333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31CD31-F123-4AFC-838C-2933A1DBCA47}"/>
              </a:ext>
            </a:extLst>
          </p:cNvPr>
          <p:cNvSpPr>
            <a:spLocks xmlns:a="http://schemas.openxmlformats.org/drawingml/2006/main" noGrp="1"/>
          </p:cNvSpPr>
          <p:nvPr/>
        </p:nvSpPr>
        <p:spPr>
          <a:xfrm xmlns:a="http://schemas.openxmlformats.org/drawingml/2006/main">
            <a:off x="7029450" y="29622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Continuous dubbed WAV audio</a:t>
            </a:r>
          </a:p>
        </p:txBody>
      </p:sp>
      <p:sp>
        <p:nvSpPr>
          <p:cNvPr id="19" name="">
            <a:extLst xmlns:a="http://schemas.openxmlformats.org/drawingml/2006/main">
              <a:ext uri="{FF2B5EF4-FFF2-40B4-BE49-F238E27FC236}">
                <a16:creationId xmlns:a16="http://schemas.microsoft.com/office/drawing/2014/main" id="{B3360B2E-DAF0-448B-8A9B-D0194DE0457D}"/>
              </a:ext>
            </a:extLst>
          </p:cNvPr>
          <p:cNvSpPr>
            <a:spLocks xmlns:a="http://schemas.openxmlformats.org/drawingml/2006/main" noGrp="1"/>
          </p:cNvSpPr>
          <p:nvPr/>
        </p:nvSpPr>
        <p:spPr>
          <a:xfrm xmlns:a="http://schemas.openxmlformats.org/drawingml/2006/main">
            <a:off x="7029450" y="3371850"/>
            <a:ext cx="40005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CAF160-29A9-42D4-B9F3-BCFEF9F820B4}"/>
              </a:ext>
            </a:extLst>
          </p:cNvPr>
          <p:cNvSpPr>
            <a:spLocks xmlns:a="http://schemas.openxmlformats.org/drawingml/2006/main" noGrp="1"/>
          </p:cNvSpPr>
          <p:nvPr/>
        </p:nvSpPr>
        <p:spPr>
          <a:xfrm xmlns:a="http://schemas.openxmlformats.org/drawingml/2006/main">
            <a:off x="6667500" y="3638550"/>
            <a:ext cx="133350" cy="1333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76D8C61-3DCC-43EA-A294-ACC98BDD714F}"/>
              </a:ext>
            </a:extLst>
          </p:cNvPr>
          <p:cNvSpPr>
            <a:spLocks xmlns:a="http://schemas.openxmlformats.org/drawingml/2006/main" noGrp="1"/>
          </p:cNvSpPr>
          <p:nvPr/>
        </p:nvSpPr>
        <p:spPr>
          <a:xfrm xmlns:a="http://schemas.openxmlformats.org/drawingml/2006/main">
            <a:off x="7029450" y="35909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SRT subtitle file</a:t>
            </a:r>
          </a:p>
        </p:txBody>
      </p:sp>
      <p:sp>
        <p:nvSpPr>
          <p:cNvPr id="22" name="">
            <a:extLst xmlns:a="http://schemas.openxmlformats.org/drawingml/2006/main">
              <a:ext uri="{FF2B5EF4-FFF2-40B4-BE49-F238E27FC236}">
                <a16:creationId xmlns:a16="http://schemas.microsoft.com/office/drawing/2014/main" id="{2A534566-1DC2-42DB-A027-81F3C1B09319}"/>
              </a:ext>
            </a:extLst>
          </p:cNvPr>
          <p:cNvSpPr>
            <a:spLocks xmlns:a="http://schemas.openxmlformats.org/drawingml/2006/main" noGrp="1"/>
          </p:cNvSpPr>
          <p:nvPr/>
        </p:nvSpPr>
        <p:spPr>
          <a:xfrm xmlns:a="http://schemas.openxmlformats.org/drawingml/2006/main">
            <a:off x="7029450" y="4000500"/>
            <a:ext cx="40005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504B44-A684-4967-9C71-A3E77BC30D1C}"/>
              </a:ext>
            </a:extLst>
          </p:cNvPr>
          <p:cNvSpPr>
            <a:spLocks xmlns:a="http://schemas.openxmlformats.org/drawingml/2006/main" noGrp="1"/>
          </p:cNvSpPr>
          <p:nvPr/>
        </p:nvSpPr>
        <p:spPr>
          <a:xfrm xmlns:a="http://schemas.openxmlformats.org/drawingml/2006/main">
            <a:off x="6667500" y="4267200"/>
            <a:ext cx="133350" cy="1333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786A96-0B86-4867-84EF-A733DF48368C}"/>
              </a:ext>
            </a:extLst>
          </p:cNvPr>
          <p:cNvSpPr>
            <a:spLocks xmlns:a="http://schemas.openxmlformats.org/drawingml/2006/main" noGrp="1"/>
          </p:cNvSpPr>
          <p:nvPr/>
        </p:nvSpPr>
        <p:spPr>
          <a:xfrm xmlns:a="http://schemas.openxmlformats.org/drawingml/2006/main">
            <a:off x="7029450" y="42195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Translated MP4 video</a:t>
            </a:r>
          </a:p>
        </p:txBody>
      </p:sp>
      <p:sp>
        <p:nvSpPr>
          <p:cNvPr id="25" name="">
            <a:extLst xmlns:a="http://schemas.openxmlformats.org/drawingml/2006/main">
              <a:ext uri="{FF2B5EF4-FFF2-40B4-BE49-F238E27FC236}">
                <a16:creationId xmlns:a16="http://schemas.microsoft.com/office/drawing/2014/main" id="{540FB514-3A1C-47A3-9958-1E21254663A5}"/>
              </a:ext>
            </a:extLst>
          </p:cNvPr>
          <p:cNvSpPr>
            <a:spLocks xmlns:a="http://schemas.openxmlformats.org/drawingml/2006/main" noGrp="1"/>
          </p:cNvSpPr>
          <p:nvPr/>
        </p:nvSpPr>
        <p:spPr>
          <a:xfrm xmlns:a="http://schemas.openxmlformats.org/drawingml/2006/main">
            <a:off x="7029450" y="4629150"/>
            <a:ext cx="40005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FF802C-67B8-4320-B229-33053BDE8BFE}"/>
              </a:ext>
            </a:extLst>
          </p:cNvPr>
          <p:cNvSpPr>
            <a:spLocks xmlns:a="http://schemas.openxmlformats.org/drawingml/2006/main" noGrp="1"/>
          </p:cNvSpPr>
          <p:nvPr/>
        </p:nvSpPr>
        <p:spPr>
          <a:xfrm xmlns:a="http://schemas.openxmlformats.org/drawingml/2006/main">
            <a:off x="6667500" y="4895850"/>
            <a:ext cx="133350" cy="1333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ED64956-F19E-4DB7-9ACF-D14DB3D215B6}"/>
              </a:ext>
            </a:extLst>
          </p:cNvPr>
          <p:cNvSpPr>
            <a:spLocks xmlns:a="http://schemas.openxmlformats.org/drawingml/2006/main" noGrp="1"/>
          </p:cNvSpPr>
          <p:nvPr/>
        </p:nvSpPr>
        <p:spPr>
          <a:xfrm xmlns:a="http://schemas.openxmlformats.org/drawingml/2006/main">
            <a:off x="7029450" y="48482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Optional summary</a:t>
            </a:r>
          </a:p>
        </p:txBody>
      </p:sp>
      <p:sp>
        <p:nvSpPr>
          <p:cNvPr id="28" name="">
            <a:extLst xmlns:a="http://schemas.openxmlformats.org/drawingml/2006/main">
              <a:ext uri="{FF2B5EF4-FFF2-40B4-BE49-F238E27FC236}">
                <a16:creationId xmlns:a16="http://schemas.microsoft.com/office/drawing/2014/main" id="{9EF8E967-A0AF-438B-B50E-D2BD02F676ED}"/>
              </a:ext>
            </a:extLst>
          </p:cNvPr>
          <p:cNvSpPr>
            <a:spLocks xmlns:a="http://schemas.openxmlformats.org/drawingml/2006/main" noGrp="1"/>
          </p:cNvSpPr>
          <p:nvPr/>
        </p:nvSpPr>
        <p:spPr>
          <a:xfrm xmlns:a="http://schemas.openxmlformats.org/drawingml/2006/main">
            <a:off x="7029450" y="5257800"/>
            <a:ext cx="40005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Tree>
    <p:extLst>
      <p:ext uri="{BB962C8B-B14F-4D97-AF65-F5344CB8AC3E}">
        <p14:creationId xmlns:p14="http://schemas.microsoft.com/office/powerpoint/2010/main" val="18626475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E79C1DF-279A-4C6B-9F73-EC7FB099F2F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5DCAC8-4FA1-4B02-8D1E-B4FBC5C10C4F}"/>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Local processing pipeline</a:t>
            </a:r>
          </a:p>
        </p:txBody>
      </p:sp>
      <p:sp>
        <p:nvSpPr>
          <p:cNvPr id="3" name="">
            <a:extLst xmlns:a="http://schemas.openxmlformats.org/drawingml/2006/main">
              <a:ext uri="{FF2B5EF4-FFF2-40B4-BE49-F238E27FC236}">
                <a16:creationId xmlns:a16="http://schemas.microsoft.com/office/drawing/2014/main" id="{AB026685-98EB-4408-B8C6-7753C8B12CBC}"/>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1FA2DD-6D94-459E-A81A-C5E622808962}"/>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4EC69D7-6E90-4E70-9E43-A6493EB2AD1A}"/>
              </a:ext>
            </a:extLst>
          </p:cNvPr>
          <p:cNvSpPr>
            <a:spLocks xmlns:a="http://schemas.openxmlformats.org/drawingml/2006/main" noGrp="1"/>
          </p:cNvSpPr>
          <p:nvPr/>
        </p:nvSpPr>
        <p:spPr>
          <a:xfrm xmlns:a="http://schemas.openxmlformats.org/drawingml/2006/main">
            <a:off x="647700" y="2428875"/>
            <a:ext cx="1714500" cy="57150"/>
          </a:xfrm>
          <a:prstGeom xmlns:a="http://schemas.openxmlformats.org/drawingml/2006/main" prst="rect">
            <a:avLst/>
          </a:prstGeom>
          <a:solidFill xmlns:a="http://schemas.openxmlformats.org/drawingml/2006/main">
            <a:srgbClr val="3333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4D5B1B7-EBC4-4352-BEBD-CC4523FD4A4B}"/>
              </a:ext>
            </a:extLst>
          </p:cNvPr>
          <p:cNvSpPr>
            <a:spLocks xmlns:a="http://schemas.openxmlformats.org/drawingml/2006/main" noGrp="1"/>
          </p:cNvSpPr>
          <p:nvPr/>
        </p:nvSpPr>
        <p:spPr>
          <a:xfrm xmlns:a="http://schemas.openxmlformats.org/drawingml/2006/main">
            <a:off x="647700" y="27622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296"/>
          </a:bodyPr>
          <a:lstStyle xmlns:a="http://schemas.openxmlformats.org/drawingml/2006/main"/>
          <a:p xmlns:a="http://schemas.openxmlformats.org/drawingml/2006/main">
            <a:pPr algn="l">
              <a:defRPr sz="1350" b="1">
                <a:solidFill>
                  <a:srgbClr val="DB0011"/>
                </a:solidFill>
                <a:latin typeface="Arial"/>
                <a:ea typeface="Arial"/>
                <a:cs typeface="Arial"/>
              </a:defRPr>
            </a:pPr>
            <a:r>
              <a:rPr sz="1350" b="1">
                <a:solidFill>
                  <a:srgbClr val="DB001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413ADBC-59D0-46A4-A318-210C3A8D7A69}"/>
              </a:ext>
            </a:extLst>
          </p:cNvPr>
          <p:cNvSpPr>
            <a:spLocks xmlns:a="http://schemas.openxmlformats.org/drawingml/2006/main" noGrp="1"/>
          </p:cNvSpPr>
          <p:nvPr/>
        </p:nvSpPr>
        <p:spPr>
          <a:xfrm xmlns:a="http://schemas.openxmlformats.org/drawingml/2006/main">
            <a:off x="647700" y="3209925"/>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865"/>
          </a:bodyPr>
          <a:lstStyle xmlns:a="http://schemas.openxmlformats.org/drawingml/2006/main"/>
          <a:p xmlns:a="http://schemas.openxmlformats.org/drawingml/2006/main">
            <a:pPr algn="l">
              <a:defRPr sz="1800" b="1">
                <a:solidFill>
                  <a:srgbClr val="333333"/>
                </a:solidFill>
                <a:latin typeface="Arial"/>
                <a:ea typeface="Arial"/>
                <a:cs typeface="Arial"/>
              </a:defRPr>
            </a:pPr>
            <a:r>
              <a:rPr sz="1800" b="1">
                <a:solidFill>
                  <a:srgbClr val="333333"/>
                </a:solidFill>
                <a:latin typeface="Arial"/>
                <a:ea typeface="Arial"/>
                <a:cs typeface="Arial"/>
              </a:rPr>
              <a:t>Media preparation</a:t>
            </a:r>
          </a:p>
        </p:txBody>
      </p:sp>
      <p:sp>
        <p:nvSpPr>
          <p:cNvPr id="8" name="">
            <a:extLst xmlns:a="http://schemas.openxmlformats.org/drawingml/2006/main">
              <a:ext uri="{FF2B5EF4-FFF2-40B4-BE49-F238E27FC236}">
                <a16:creationId xmlns:a16="http://schemas.microsoft.com/office/drawing/2014/main" id="{C241E676-EBAF-460B-A841-D69EAB52172F}"/>
              </a:ext>
            </a:extLst>
          </p:cNvPr>
          <p:cNvSpPr>
            <a:spLocks xmlns:a="http://schemas.openxmlformats.org/drawingml/2006/main" noGrp="1"/>
          </p:cNvSpPr>
          <p:nvPr/>
        </p:nvSpPr>
        <p:spPr>
          <a:xfrm xmlns:a="http://schemas.openxmlformats.org/drawingml/2006/main">
            <a:off x="647700" y="3924300"/>
            <a:ext cx="1695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C5C5C"/>
                </a:solidFill>
                <a:latin typeface="Arial"/>
                <a:ea typeface="Arial"/>
                <a:cs typeface="Arial"/>
              </a:defRPr>
            </a:pPr>
            <a:r>
              <a:rPr sz="1350" b="0">
                <a:solidFill>
                  <a:srgbClr val="5C5C5C"/>
                </a:solidFill>
                <a:latin typeface="Arial"/>
                <a:ea typeface="Arial"/>
                <a:cs typeface="Arial"/>
              </a:rPr>
              <a:t>FFmpeg reads and normalises media</a:t>
            </a:r>
          </a:p>
        </p:txBody>
      </p:sp>
      <p:sp>
        <p:nvSpPr>
          <p:cNvPr id="9" name="">
            <a:extLst xmlns:a="http://schemas.openxmlformats.org/drawingml/2006/main">
              <a:ext uri="{FF2B5EF4-FFF2-40B4-BE49-F238E27FC236}">
                <a16:creationId xmlns:a16="http://schemas.microsoft.com/office/drawing/2014/main" id="{643E28E3-BF05-48AE-A7D3-718A37C72E89}"/>
              </a:ext>
            </a:extLst>
          </p:cNvPr>
          <p:cNvSpPr>
            <a:spLocks xmlns:a="http://schemas.openxmlformats.org/drawingml/2006/main" noGrp="1"/>
          </p:cNvSpPr>
          <p:nvPr/>
        </p:nvSpPr>
        <p:spPr>
          <a:xfrm xmlns:a="http://schemas.openxmlformats.org/drawingml/2006/main">
            <a:off x="2838450" y="2428875"/>
            <a:ext cx="1714500" cy="57150"/>
          </a:xfrm>
          <a:prstGeom xmlns:a="http://schemas.openxmlformats.org/drawingml/2006/main" prst="rect">
            <a:avLst/>
          </a:prstGeom>
          <a:solidFill xmlns:a="http://schemas.openxmlformats.org/drawingml/2006/main">
            <a:srgbClr val="33333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88C4A76-AE06-49D8-9E3C-074F2C59A565}"/>
              </a:ext>
            </a:extLst>
          </p:cNvPr>
          <p:cNvSpPr>
            <a:spLocks xmlns:a="http://schemas.openxmlformats.org/drawingml/2006/main" noGrp="1"/>
          </p:cNvSpPr>
          <p:nvPr/>
        </p:nvSpPr>
        <p:spPr>
          <a:xfrm xmlns:a="http://schemas.openxmlformats.org/drawingml/2006/main">
            <a:off x="2838450" y="27622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296"/>
          </a:bodyPr>
          <a:lstStyle xmlns:a="http://schemas.openxmlformats.org/drawingml/2006/main"/>
          <a:p xmlns:a="http://schemas.openxmlformats.org/drawingml/2006/main">
            <a:pPr algn="l">
              <a:defRPr sz="1350" b="1">
                <a:solidFill>
                  <a:srgbClr val="DB0011"/>
                </a:solidFill>
                <a:latin typeface="Arial"/>
                <a:ea typeface="Arial"/>
                <a:cs typeface="Arial"/>
              </a:defRPr>
            </a:pPr>
            <a:r>
              <a:rPr sz="1350" b="1">
                <a:solidFill>
                  <a:srgbClr val="DB0011"/>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3AF80B7-56B2-49E0-9EF7-12E57BE5C0BB}"/>
              </a:ext>
            </a:extLst>
          </p:cNvPr>
          <p:cNvSpPr>
            <a:spLocks xmlns:a="http://schemas.openxmlformats.org/drawingml/2006/main" noGrp="1"/>
          </p:cNvSpPr>
          <p:nvPr/>
        </p:nvSpPr>
        <p:spPr>
          <a:xfrm xmlns:a="http://schemas.openxmlformats.org/drawingml/2006/main">
            <a:off x="2838450" y="3209925"/>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083"/>
          </a:bodyPr>
          <a:lstStyle xmlns:a="http://schemas.openxmlformats.org/drawingml/2006/main"/>
          <a:p xmlns:a="http://schemas.openxmlformats.org/drawingml/2006/main">
            <a:pPr algn="l">
              <a:defRPr sz="1800" b="1">
                <a:solidFill>
                  <a:srgbClr val="333333"/>
                </a:solidFill>
                <a:latin typeface="Arial"/>
                <a:ea typeface="Arial"/>
                <a:cs typeface="Arial"/>
              </a:defRPr>
            </a:pPr>
            <a:r>
              <a:rPr sz="1800" b="1">
                <a:solidFill>
                  <a:srgbClr val="333333"/>
                </a:solidFill>
                <a:latin typeface="Arial"/>
                <a:ea typeface="Arial"/>
                <a:cs typeface="Arial"/>
              </a:rPr>
              <a:t>Speech recognition</a:t>
            </a:r>
          </a:p>
        </p:txBody>
      </p:sp>
      <p:sp>
        <p:nvSpPr>
          <p:cNvPr id="12" name="">
            <a:extLst xmlns:a="http://schemas.openxmlformats.org/drawingml/2006/main">
              <a:ext uri="{FF2B5EF4-FFF2-40B4-BE49-F238E27FC236}">
                <a16:creationId xmlns:a16="http://schemas.microsoft.com/office/drawing/2014/main" id="{6165A6D7-8CE5-424B-8837-720238FD3960}"/>
              </a:ext>
            </a:extLst>
          </p:cNvPr>
          <p:cNvSpPr>
            <a:spLocks xmlns:a="http://schemas.openxmlformats.org/drawingml/2006/main" noGrp="1"/>
          </p:cNvSpPr>
          <p:nvPr/>
        </p:nvSpPr>
        <p:spPr>
          <a:xfrm xmlns:a="http://schemas.openxmlformats.org/drawingml/2006/main">
            <a:off x="2838450" y="3924300"/>
            <a:ext cx="1695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C5C5C"/>
                </a:solidFill>
                <a:latin typeface="Arial"/>
                <a:ea typeface="Arial"/>
                <a:cs typeface="Arial"/>
              </a:defRPr>
            </a:pPr>
            <a:r>
              <a:rPr sz="1350" b="0">
                <a:solidFill>
                  <a:srgbClr val="5C5C5C"/>
                </a:solidFill>
                <a:latin typeface="Arial"/>
                <a:ea typeface="Arial"/>
                <a:cs typeface="Arial"/>
              </a:rPr>
              <a:t>Faster-Whisper creates timestamps</a:t>
            </a:r>
          </a:p>
        </p:txBody>
      </p:sp>
      <p:sp>
        <p:nvSpPr>
          <p:cNvPr id="13" name="">
            <a:extLst xmlns:a="http://schemas.openxmlformats.org/drawingml/2006/main">
              <a:ext uri="{FF2B5EF4-FFF2-40B4-BE49-F238E27FC236}">
                <a16:creationId xmlns:a16="http://schemas.microsoft.com/office/drawing/2014/main" id="{6EAD66BA-1188-4E4B-8DDE-9C6816FD8C9A}"/>
              </a:ext>
            </a:extLst>
          </p:cNvPr>
          <p:cNvSpPr>
            <a:spLocks xmlns:a="http://schemas.openxmlformats.org/drawingml/2006/main" noGrp="1"/>
          </p:cNvSpPr>
          <p:nvPr/>
        </p:nvSpPr>
        <p:spPr>
          <a:xfrm xmlns:a="http://schemas.openxmlformats.org/drawingml/2006/main">
            <a:off x="5029200" y="2428875"/>
            <a:ext cx="1714500" cy="571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7749AB-C712-48CF-AFBD-F74DDCFCA5AC}"/>
              </a:ext>
            </a:extLst>
          </p:cNvPr>
          <p:cNvSpPr>
            <a:spLocks xmlns:a="http://schemas.openxmlformats.org/drawingml/2006/main" noGrp="1"/>
          </p:cNvSpPr>
          <p:nvPr/>
        </p:nvSpPr>
        <p:spPr>
          <a:xfrm xmlns:a="http://schemas.openxmlformats.org/drawingml/2006/main">
            <a:off x="5029200" y="27622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296"/>
          </a:bodyPr>
          <a:lstStyle xmlns:a="http://schemas.openxmlformats.org/drawingml/2006/main"/>
          <a:p xmlns:a="http://schemas.openxmlformats.org/drawingml/2006/main">
            <a:pPr algn="l">
              <a:defRPr sz="1350" b="1">
                <a:solidFill>
                  <a:srgbClr val="DB0011"/>
                </a:solidFill>
                <a:latin typeface="Arial"/>
                <a:ea typeface="Arial"/>
                <a:cs typeface="Arial"/>
              </a:defRPr>
            </a:pPr>
            <a:r>
              <a:rPr sz="1350" b="1">
                <a:solidFill>
                  <a:srgbClr val="DB0011"/>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1657F104-89CF-4A7B-B319-1E2278F7DA55}"/>
              </a:ext>
            </a:extLst>
          </p:cNvPr>
          <p:cNvSpPr>
            <a:spLocks xmlns:a="http://schemas.openxmlformats.org/drawingml/2006/main" noGrp="1"/>
          </p:cNvSpPr>
          <p:nvPr/>
        </p:nvSpPr>
        <p:spPr>
          <a:xfrm xmlns:a="http://schemas.openxmlformats.org/drawingml/2006/main">
            <a:off x="5029200" y="3209925"/>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333333"/>
                </a:solidFill>
                <a:latin typeface="Arial"/>
                <a:ea typeface="Arial"/>
                <a:cs typeface="Arial"/>
              </a:defRPr>
            </a:pPr>
            <a:r>
              <a:rPr sz="1800" b="1">
                <a:solidFill>
                  <a:srgbClr val="333333"/>
                </a:solidFill>
                <a:latin typeface="Arial"/>
                <a:ea typeface="Arial"/>
                <a:cs typeface="Arial"/>
              </a:rPr>
              <a:t>Translation</a:t>
            </a:r>
          </a:p>
        </p:txBody>
      </p:sp>
      <p:sp>
        <p:nvSpPr>
          <p:cNvPr id="16" name="">
            <a:extLst xmlns:a="http://schemas.openxmlformats.org/drawingml/2006/main">
              <a:ext uri="{FF2B5EF4-FFF2-40B4-BE49-F238E27FC236}">
                <a16:creationId xmlns:a16="http://schemas.microsoft.com/office/drawing/2014/main" id="{53D61622-A8F1-4EBA-8CDB-23E5A6858F8F}"/>
              </a:ext>
            </a:extLst>
          </p:cNvPr>
          <p:cNvSpPr>
            <a:spLocks xmlns:a="http://schemas.openxmlformats.org/drawingml/2006/main" noGrp="1"/>
          </p:cNvSpPr>
          <p:nvPr/>
        </p:nvSpPr>
        <p:spPr>
          <a:xfrm xmlns:a="http://schemas.openxmlformats.org/drawingml/2006/main">
            <a:off x="5029200" y="3924300"/>
            <a:ext cx="1695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C5C5C"/>
                </a:solidFill>
                <a:latin typeface="Arial"/>
                <a:ea typeface="Arial"/>
                <a:cs typeface="Arial"/>
              </a:defRPr>
            </a:pPr>
            <a:r>
              <a:rPr sz="1350" b="0">
                <a:solidFill>
                  <a:srgbClr val="5C5C5C"/>
                </a:solidFill>
                <a:latin typeface="Arial"/>
                <a:ea typeface="Arial"/>
                <a:cs typeface="Arial"/>
              </a:rPr>
              <a:t>IndicTrans2 converts language</a:t>
            </a:r>
          </a:p>
        </p:txBody>
      </p:sp>
      <p:sp>
        <p:nvSpPr>
          <p:cNvPr id="17" name="">
            <a:extLst xmlns:a="http://schemas.openxmlformats.org/drawingml/2006/main">
              <a:ext uri="{FF2B5EF4-FFF2-40B4-BE49-F238E27FC236}">
                <a16:creationId xmlns:a16="http://schemas.microsoft.com/office/drawing/2014/main" id="{56A441CB-80E6-463B-8D9C-7DD3B078AE3F}"/>
              </a:ext>
            </a:extLst>
          </p:cNvPr>
          <p:cNvSpPr>
            <a:spLocks xmlns:a="http://schemas.openxmlformats.org/drawingml/2006/main" noGrp="1"/>
          </p:cNvSpPr>
          <p:nvPr/>
        </p:nvSpPr>
        <p:spPr>
          <a:xfrm xmlns:a="http://schemas.openxmlformats.org/drawingml/2006/main">
            <a:off x="7219950" y="2428875"/>
            <a:ext cx="1714500" cy="57150"/>
          </a:xfrm>
          <a:prstGeom xmlns:a="http://schemas.openxmlformats.org/drawingml/2006/main" prst="rect">
            <a:avLst/>
          </a:prstGeom>
          <a:solidFill xmlns:a="http://schemas.openxmlformats.org/drawingml/2006/main">
            <a:srgbClr val="3333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353A48-6037-4EF2-95F6-36E45F890A4B}"/>
              </a:ext>
            </a:extLst>
          </p:cNvPr>
          <p:cNvSpPr>
            <a:spLocks xmlns:a="http://schemas.openxmlformats.org/drawingml/2006/main" noGrp="1"/>
          </p:cNvSpPr>
          <p:nvPr/>
        </p:nvSpPr>
        <p:spPr>
          <a:xfrm xmlns:a="http://schemas.openxmlformats.org/drawingml/2006/main">
            <a:off x="7219950" y="27622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296"/>
          </a:bodyPr>
          <a:lstStyle xmlns:a="http://schemas.openxmlformats.org/drawingml/2006/main"/>
          <a:p xmlns:a="http://schemas.openxmlformats.org/drawingml/2006/main">
            <a:pPr algn="l">
              <a:defRPr sz="1350" b="1">
                <a:solidFill>
                  <a:srgbClr val="DB0011"/>
                </a:solidFill>
                <a:latin typeface="Arial"/>
                <a:ea typeface="Arial"/>
                <a:cs typeface="Arial"/>
              </a:defRPr>
            </a:pPr>
            <a:r>
              <a:rPr sz="1350" b="1">
                <a:solidFill>
                  <a:srgbClr val="DB0011"/>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730E5B17-85BF-4275-BE68-74AE35768DF8}"/>
              </a:ext>
            </a:extLst>
          </p:cNvPr>
          <p:cNvSpPr>
            <a:spLocks xmlns:a="http://schemas.openxmlformats.org/drawingml/2006/main" noGrp="1"/>
          </p:cNvSpPr>
          <p:nvPr/>
        </p:nvSpPr>
        <p:spPr>
          <a:xfrm xmlns:a="http://schemas.openxmlformats.org/drawingml/2006/main">
            <a:off x="7219950" y="3209925"/>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760"/>
          </a:bodyPr>
          <a:lstStyle xmlns:a="http://schemas.openxmlformats.org/drawingml/2006/main"/>
          <a:p xmlns:a="http://schemas.openxmlformats.org/drawingml/2006/main">
            <a:pPr algn="l">
              <a:defRPr sz="1800" b="1">
                <a:solidFill>
                  <a:srgbClr val="333333"/>
                </a:solidFill>
                <a:latin typeface="Arial"/>
                <a:ea typeface="Arial"/>
                <a:cs typeface="Arial"/>
              </a:defRPr>
            </a:pPr>
            <a:r>
              <a:rPr sz="1800" b="1">
                <a:solidFill>
                  <a:srgbClr val="333333"/>
                </a:solidFill>
                <a:latin typeface="Arial"/>
                <a:ea typeface="Arial"/>
                <a:cs typeface="Arial"/>
              </a:rPr>
              <a:t>Voice generation</a:t>
            </a:r>
          </a:p>
        </p:txBody>
      </p:sp>
      <p:sp>
        <p:nvSpPr>
          <p:cNvPr id="20" name="">
            <a:extLst xmlns:a="http://schemas.openxmlformats.org/drawingml/2006/main">
              <a:ext uri="{FF2B5EF4-FFF2-40B4-BE49-F238E27FC236}">
                <a16:creationId xmlns:a16="http://schemas.microsoft.com/office/drawing/2014/main" id="{586849AF-0F23-4423-A953-21486D76F2DE}"/>
              </a:ext>
            </a:extLst>
          </p:cNvPr>
          <p:cNvSpPr>
            <a:spLocks xmlns:a="http://schemas.openxmlformats.org/drawingml/2006/main" noGrp="1"/>
          </p:cNvSpPr>
          <p:nvPr/>
        </p:nvSpPr>
        <p:spPr>
          <a:xfrm xmlns:a="http://schemas.openxmlformats.org/drawingml/2006/main">
            <a:off x="7219950" y="3924300"/>
            <a:ext cx="1695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C5C5C"/>
                </a:solidFill>
                <a:latin typeface="Arial"/>
                <a:ea typeface="Arial"/>
                <a:cs typeface="Arial"/>
              </a:defRPr>
            </a:pPr>
            <a:r>
              <a:rPr sz="1350" b="0">
                <a:solidFill>
                  <a:srgbClr val="5C5C5C"/>
                </a:solidFill>
                <a:latin typeface="Arial"/>
                <a:ea typeface="Arial"/>
                <a:cs typeface="Arial"/>
              </a:rPr>
              <a:t>Sherpa-ONNX produces speech</a:t>
            </a:r>
          </a:p>
        </p:txBody>
      </p:sp>
      <p:sp>
        <p:nvSpPr>
          <p:cNvPr id="21" name="">
            <a:extLst xmlns:a="http://schemas.openxmlformats.org/drawingml/2006/main">
              <a:ext uri="{FF2B5EF4-FFF2-40B4-BE49-F238E27FC236}">
                <a16:creationId xmlns:a16="http://schemas.microsoft.com/office/drawing/2014/main" id="{689A69A1-F0C0-4C28-8751-7A8920A27C4E}"/>
              </a:ext>
            </a:extLst>
          </p:cNvPr>
          <p:cNvSpPr>
            <a:spLocks xmlns:a="http://schemas.openxmlformats.org/drawingml/2006/main" noGrp="1"/>
          </p:cNvSpPr>
          <p:nvPr/>
        </p:nvSpPr>
        <p:spPr>
          <a:xfrm xmlns:a="http://schemas.openxmlformats.org/drawingml/2006/main">
            <a:off x="9410700" y="2428875"/>
            <a:ext cx="1714500" cy="57150"/>
          </a:xfrm>
          <a:prstGeom xmlns:a="http://schemas.openxmlformats.org/drawingml/2006/main" prst="rect">
            <a:avLst/>
          </a:prstGeom>
          <a:solidFill xmlns:a="http://schemas.openxmlformats.org/drawingml/2006/main">
            <a:srgbClr val="33333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5A7E76-AD1D-4E9A-BA26-0A41B2C5FEDD}"/>
              </a:ext>
            </a:extLst>
          </p:cNvPr>
          <p:cNvSpPr>
            <a:spLocks xmlns:a="http://schemas.openxmlformats.org/drawingml/2006/main" noGrp="1"/>
          </p:cNvSpPr>
          <p:nvPr/>
        </p:nvSpPr>
        <p:spPr>
          <a:xfrm xmlns:a="http://schemas.openxmlformats.org/drawingml/2006/main">
            <a:off x="9410700" y="27622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296"/>
          </a:bodyPr>
          <a:lstStyle xmlns:a="http://schemas.openxmlformats.org/drawingml/2006/main"/>
          <a:p xmlns:a="http://schemas.openxmlformats.org/drawingml/2006/main">
            <a:pPr algn="l">
              <a:defRPr sz="1350" b="1">
                <a:solidFill>
                  <a:srgbClr val="DB0011"/>
                </a:solidFill>
                <a:latin typeface="Arial"/>
                <a:ea typeface="Arial"/>
                <a:cs typeface="Arial"/>
              </a:defRPr>
            </a:pPr>
            <a:r>
              <a:rPr sz="1350" b="1">
                <a:solidFill>
                  <a:srgbClr val="DB0011"/>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0BC4382C-0D05-4635-B8DF-EC0BA263A60D}"/>
              </a:ext>
            </a:extLst>
          </p:cNvPr>
          <p:cNvSpPr>
            <a:spLocks xmlns:a="http://schemas.openxmlformats.org/drawingml/2006/main" noGrp="1"/>
          </p:cNvSpPr>
          <p:nvPr/>
        </p:nvSpPr>
        <p:spPr>
          <a:xfrm xmlns:a="http://schemas.openxmlformats.org/drawingml/2006/main">
            <a:off x="9410700" y="3209925"/>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333333"/>
                </a:solidFill>
                <a:latin typeface="Arial"/>
                <a:ea typeface="Arial"/>
                <a:cs typeface="Arial"/>
              </a:defRPr>
            </a:pPr>
            <a:r>
              <a:rPr sz="1800" b="1">
                <a:solidFill>
                  <a:srgbClr val="333333"/>
                </a:solidFill>
                <a:latin typeface="Arial"/>
                <a:ea typeface="Arial"/>
                <a:cs typeface="Arial"/>
              </a:rPr>
              <a:t>Video export</a:t>
            </a:r>
          </a:p>
        </p:txBody>
      </p:sp>
      <p:sp>
        <p:nvSpPr>
          <p:cNvPr id="24" name="">
            <a:extLst xmlns:a="http://schemas.openxmlformats.org/drawingml/2006/main">
              <a:ext uri="{FF2B5EF4-FFF2-40B4-BE49-F238E27FC236}">
                <a16:creationId xmlns:a16="http://schemas.microsoft.com/office/drawing/2014/main" id="{1C5545E3-A5FA-4913-9F2C-0BE006B7CC4D}"/>
              </a:ext>
            </a:extLst>
          </p:cNvPr>
          <p:cNvSpPr>
            <a:spLocks xmlns:a="http://schemas.openxmlformats.org/drawingml/2006/main" noGrp="1"/>
          </p:cNvSpPr>
          <p:nvPr/>
        </p:nvSpPr>
        <p:spPr>
          <a:xfrm xmlns:a="http://schemas.openxmlformats.org/drawingml/2006/main">
            <a:off x="9410700" y="3924300"/>
            <a:ext cx="1695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C5C5C"/>
                </a:solidFill>
                <a:latin typeface="Arial"/>
                <a:ea typeface="Arial"/>
                <a:cs typeface="Arial"/>
              </a:defRPr>
            </a:pPr>
            <a:r>
              <a:rPr sz="1350" b="0">
                <a:solidFill>
                  <a:srgbClr val="5C5C5C"/>
                </a:solidFill>
                <a:latin typeface="Arial"/>
                <a:ea typeface="Arial"/>
                <a:cs typeface="Arial"/>
              </a:rPr>
              <a:t>FFmpeg creates the final file</a:t>
            </a:r>
          </a:p>
        </p:txBody>
      </p:sp>
      <p:sp>
        <p:nvSpPr>
          <p:cNvPr id="25" name="">
            <a:extLst xmlns:a="http://schemas.openxmlformats.org/drawingml/2006/main">
              <a:ext uri="{FF2B5EF4-FFF2-40B4-BE49-F238E27FC236}">
                <a16:creationId xmlns:a16="http://schemas.microsoft.com/office/drawing/2014/main" id="{8FEDA14A-75ED-4D20-B302-93BF8FBE0E14}"/>
              </a:ext>
            </a:extLst>
          </p:cNvPr>
          <p:cNvSpPr>
            <a:spLocks xmlns:a="http://schemas.openxmlformats.org/drawingml/2006/main" noGrp="1"/>
          </p:cNvSpPr>
          <p:nvPr/>
        </p:nvSpPr>
        <p:spPr>
          <a:xfrm xmlns:a="http://schemas.openxmlformats.org/drawingml/2006/main">
            <a:off x="647700" y="5619750"/>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000"/>
          </a:bodyPr>
          <a:lstStyle xmlns:a="http://schemas.openxmlformats.org/drawingml/2006/main"/>
          <a:p xmlns:a="http://schemas.openxmlformats.org/drawingml/2006/main">
            <a:pPr algn="l">
              <a:defRPr sz="1875" b="1">
                <a:solidFill>
                  <a:srgbClr val="333333"/>
                </a:solidFill>
                <a:latin typeface="Arial"/>
                <a:ea typeface="Arial"/>
                <a:cs typeface="Arial"/>
              </a:defRPr>
            </a:pPr>
            <a:r>
              <a:rPr sz="1875" b="1">
                <a:solidFill>
                  <a:srgbClr val="333333"/>
                </a:solidFill>
                <a:latin typeface="Arial"/>
                <a:ea typeface="Arial"/>
                <a:cs typeface="Arial"/>
              </a:rPr>
              <a:t>Every stage reads local files and writes local artifacts in the BAIF workspace.</a:t>
            </a:r>
          </a:p>
        </p:txBody>
      </p:sp>
    </p:spTree>
    <p:extLst>
      <p:ext uri="{BB962C8B-B14F-4D97-AF65-F5344CB8AC3E}">
        <p14:creationId xmlns:p14="http://schemas.microsoft.com/office/powerpoint/2010/main" val="8888169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344459A-FB6E-4F44-8A43-04A0A39025E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27B2AD-3A34-4766-BFF7-37A6D0C4D3B5}"/>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Speech recognition</a:t>
            </a:r>
          </a:p>
        </p:txBody>
      </p:sp>
      <p:sp>
        <p:nvSpPr>
          <p:cNvPr id="3" name="">
            <a:extLst xmlns:a="http://schemas.openxmlformats.org/drawingml/2006/main">
              <a:ext uri="{FF2B5EF4-FFF2-40B4-BE49-F238E27FC236}">
                <a16:creationId xmlns:a16="http://schemas.microsoft.com/office/drawing/2014/main" id="{DC4470AE-0EE4-46D5-8640-FC8434E84712}"/>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C119E7-C49E-495A-8B69-8AC15D65F462}"/>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10D81BF-ECC6-4EF0-99B4-8FD131EB7241}"/>
              </a:ext>
            </a:extLst>
          </p:cNvPr>
          <p:cNvSpPr>
            <a:spLocks xmlns:a="http://schemas.openxmlformats.org/drawingml/2006/main" noGrp="1"/>
          </p:cNvSpPr>
          <p:nvPr/>
        </p:nvSpPr>
        <p:spPr>
          <a:xfrm xmlns:a="http://schemas.openxmlformats.org/drawingml/2006/main">
            <a:off x="647700" y="18478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l">
              <a:defRPr sz="2850" b="1">
                <a:solidFill>
                  <a:srgbClr val="DB0011"/>
                </a:solidFill>
                <a:latin typeface="Arial"/>
                <a:ea typeface="Arial"/>
                <a:cs typeface="Arial"/>
              </a:defRPr>
            </a:pPr>
            <a:r>
              <a:rPr sz="2850" b="1">
                <a:solidFill>
                  <a:srgbClr val="DB0011"/>
                </a:solidFill>
                <a:latin typeface="Arial"/>
                <a:ea typeface="Arial"/>
                <a:cs typeface="Arial"/>
              </a:rPr>
              <a:t>Faster-Whisper</a:t>
            </a:r>
          </a:p>
        </p:txBody>
      </p:sp>
      <p:sp>
        <p:nvSpPr>
          <p:cNvPr id="6" name="">
            <a:extLst xmlns:a="http://schemas.openxmlformats.org/drawingml/2006/main">
              <a:ext uri="{FF2B5EF4-FFF2-40B4-BE49-F238E27FC236}">
                <a16:creationId xmlns:a16="http://schemas.microsoft.com/office/drawing/2014/main" id="{BA3ED195-BE8E-4861-B499-E9F4E435F0BE}"/>
              </a:ext>
            </a:extLst>
          </p:cNvPr>
          <p:cNvSpPr>
            <a:spLocks xmlns:a="http://schemas.openxmlformats.org/drawingml/2006/main" noGrp="1"/>
          </p:cNvSpPr>
          <p:nvPr/>
        </p:nvSpPr>
        <p:spPr>
          <a:xfrm xmlns:a="http://schemas.openxmlformats.org/drawingml/2006/main">
            <a:off x="647700" y="23812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p xmlns:a="http://schemas.openxmlformats.org/drawingml/2006/main">
            <a:pPr algn="l">
              <a:defRPr sz="1725" b="0">
                <a:solidFill>
                  <a:srgbClr val="5C5C5C"/>
                </a:solidFill>
                <a:latin typeface="Arial"/>
                <a:ea typeface="Arial"/>
                <a:cs typeface="Arial"/>
              </a:defRPr>
            </a:pPr>
            <a:r>
              <a:rPr sz="1725" b="0">
                <a:solidFill>
                  <a:srgbClr val="5C5C5C"/>
                </a:solidFill>
                <a:latin typeface="Arial"/>
                <a:ea typeface="Arial"/>
                <a:cs typeface="Arial"/>
              </a:rPr>
              <a:t>Local multilingual speech recognition with timestamps</a:t>
            </a:r>
          </a:p>
        </p:txBody>
      </p:sp>
      <p:sp>
        <p:nvSpPr>
          <p:cNvPr id="7" name="">
            <a:extLst xmlns:a="http://schemas.openxmlformats.org/drawingml/2006/main">
              <a:ext uri="{FF2B5EF4-FFF2-40B4-BE49-F238E27FC236}">
                <a16:creationId xmlns:a16="http://schemas.microsoft.com/office/drawing/2014/main" id="{8F6FC378-AD99-4DCD-A14E-1E1FBCA25EC5}"/>
              </a:ext>
            </a:extLst>
          </p:cNvPr>
          <p:cNvSpPr>
            <a:spLocks xmlns:a="http://schemas.openxmlformats.org/drawingml/2006/main" noGrp="1"/>
          </p:cNvSpPr>
          <p:nvPr/>
        </p:nvSpPr>
        <p:spPr>
          <a:xfrm xmlns:a="http://schemas.openxmlformats.org/drawingml/2006/main">
            <a:off x="647700" y="30099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9A78B54-3F85-454A-BC2F-3E011555EA51}"/>
              </a:ext>
            </a:extLst>
          </p:cNvPr>
          <p:cNvSpPr>
            <a:spLocks xmlns:a="http://schemas.openxmlformats.org/drawingml/2006/main" noGrp="1"/>
          </p:cNvSpPr>
          <p:nvPr/>
        </p:nvSpPr>
        <p:spPr>
          <a:xfrm xmlns:a="http://schemas.openxmlformats.org/drawingml/2006/main">
            <a:off x="647700" y="3524250"/>
            <a:ext cx="176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2121"/>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Languages</a:t>
            </a:r>
          </a:p>
        </p:txBody>
      </p:sp>
      <p:sp>
        <p:nvSpPr>
          <p:cNvPr id="9" name="">
            <a:extLst xmlns:a="http://schemas.openxmlformats.org/drawingml/2006/main">
              <a:ext uri="{FF2B5EF4-FFF2-40B4-BE49-F238E27FC236}">
                <a16:creationId xmlns:a16="http://schemas.microsoft.com/office/drawing/2014/main" id="{9E60C225-07D8-4DE6-88CC-CD732E2C9DDC}"/>
              </a:ext>
            </a:extLst>
          </p:cNvPr>
          <p:cNvSpPr>
            <a:spLocks xmlns:a="http://schemas.openxmlformats.org/drawingml/2006/main" noGrp="1"/>
          </p:cNvSpPr>
          <p:nvPr/>
        </p:nvSpPr>
        <p:spPr>
          <a:xfrm xmlns:a="http://schemas.openxmlformats.org/drawingml/2006/main">
            <a:off x="647700" y="38862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English, Hindi and Marathi source speech</a:t>
            </a:r>
          </a:p>
        </p:txBody>
      </p:sp>
      <p:sp>
        <p:nvSpPr>
          <p:cNvPr id="10" name="">
            <a:extLst xmlns:a="http://schemas.openxmlformats.org/drawingml/2006/main">
              <a:ext uri="{FF2B5EF4-FFF2-40B4-BE49-F238E27FC236}">
                <a16:creationId xmlns:a16="http://schemas.microsoft.com/office/drawing/2014/main" id="{2AB6C25C-C16A-49A9-8E72-E99627A56A22}"/>
              </a:ext>
            </a:extLst>
          </p:cNvPr>
          <p:cNvSpPr>
            <a:spLocks xmlns:a="http://schemas.openxmlformats.org/drawingml/2006/main" noGrp="1"/>
          </p:cNvSpPr>
          <p:nvPr/>
        </p:nvSpPr>
        <p:spPr>
          <a:xfrm xmlns:a="http://schemas.openxmlformats.org/drawingml/2006/main">
            <a:off x="6267450" y="3524250"/>
            <a:ext cx="176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2121"/>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Deployment</a:t>
            </a:r>
          </a:p>
        </p:txBody>
      </p:sp>
      <p:sp>
        <p:nvSpPr>
          <p:cNvPr id="11" name="">
            <a:extLst xmlns:a="http://schemas.openxmlformats.org/drawingml/2006/main">
              <a:ext uri="{FF2B5EF4-FFF2-40B4-BE49-F238E27FC236}">
                <a16:creationId xmlns:a16="http://schemas.microsoft.com/office/drawing/2014/main" id="{2F82847C-83A0-44B6-A3C5-30E974FC55BF}"/>
              </a:ext>
            </a:extLst>
          </p:cNvPr>
          <p:cNvSpPr>
            <a:spLocks xmlns:a="http://schemas.openxmlformats.org/drawingml/2006/main" noGrp="1"/>
          </p:cNvSpPr>
          <p:nvPr/>
        </p:nvSpPr>
        <p:spPr>
          <a:xfrm xmlns:a="http://schemas.openxmlformats.org/drawingml/2006/main">
            <a:off x="6267450" y="38862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CPU inference with INT8 processing</a:t>
            </a:r>
          </a:p>
        </p:txBody>
      </p:sp>
      <p:sp>
        <p:nvSpPr>
          <p:cNvPr id="12" name="">
            <a:extLst xmlns:a="http://schemas.openxmlformats.org/drawingml/2006/main">
              <a:ext uri="{FF2B5EF4-FFF2-40B4-BE49-F238E27FC236}">
                <a16:creationId xmlns:a16="http://schemas.microsoft.com/office/drawing/2014/main" id="{9094780B-8EB6-428E-90C3-D245428FD612}"/>
              </a:ext>
            </a:extLst>
          </p:cNvPr>
          <p:cNvSpPr>
            <a:spLocks xmlns:a="http://schemas.openxmlformats.org/drawingml/2006/main" noGrp="1"/>
          </p:cNvSpPr>
          <p:nvPr/>
        </p:nvSpPr>
        <p:spPr>
          <a:xfrm xmlns:a="http://schemas.openxmlformats.org/drawingml/2006/main">
            <a:off x="647700" y="4686300"/>
            <a:ext cx="176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2121"/>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Timing</a:t>
            </a:r>
          </a:p>
        </p:txBody>
      </p:sp>
      <p:sp>
        <p:nvSpPr>
          <p:cNvPr id="13" name="">
            <a:extLst xmlns:a="http://schemas.openxmlformats.org/drawingml/2006/main">
              <a:ext uri="{FF2B5EF4-FFF2-40B4-BE49-F238E27FC236}">
                <a16:creationId xmlns:a16="http://schemas.microsoft.com/office/drawing/2014/main" id="{6825F99D-2877-4373-A07D-57D9F4E59C58}"/>
              </a:ext>
            </a:extLst>
          </p:cNvPr>
          <p:cNvSpPr>
            <a:spLocks xmlns:a="http://schemas.openxmlformats.org/drawingml/2006/main" noGrp="1"/>
          </p:cNvSpPr>
          <p:nvPr/>
        </p:nvSpPr>
        <p:spPr>
          <a:xfrm xmlns:a="http://schemas.openxmlformats.org/drawingml/2006/main">
            <a:off x="647700" y="50482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74"/>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Timestamped segments for subtitles and video alignment</a:t>
            </a:r>
          </a:p>
        </p:txBody>
      </p:sp>
      <p:sp>
        <p:nvSpPr>
          <p:cNvPr id="14" name="">
            <a:extLst xmlns:a="http://schemas.openxmlformats.org/drawingml/2006/main">
              <a:ext uri="{FF2B5EF4-FFF2-40B4-BE49-F238E27FC236}">
                <a16:creationId xmlns:a16="http://schemas.microsoft.com/office/drawing/2014/main" id="{C9A82328-CB28-419D-8517-B69E9C7BB96F}"/>
              </a:ext>
            </a:extLst>
          </p:cNvPr>
          <p:cNvSpPr>
            <a:spLocks xmlns:a="http://schemas.openxmlformats.org/drawingml/2006/main" noGrp="1"/>
          </p:cNvSpPr>
          <p:nvPr/>
        </p:nvSpPr>
        <p:spPr>
          <a:xfrm xmlns:a="http://schemas.openxmlformats.org/drawingml/2006/main">
            <a:off x="6267450" y="4686300"/>
            <a:ext cx="176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2121"/>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Reliability</a:t>
            </a:r>
          </a:p>
        </p:txBody>
      </p:sp>
      <p:sp>
        <p:nvSpPr>
          <p:cNvPr id="15" name="">
            <a:extLst xmlns:a="http://schemas.openxmlformats.org/drawingml/2006/main">
              <a:ext uri="{FF2B5EF4-FFF2-40B4-BE49-F238E27FC236}">
                <a16:creationId xmlns:a16="http://schemas.microsoft.com/office/drawing/2014/main" id="{5132C297-469C-48DA-BE2A-18A44B5FE022}"/>
              </a:ext>
            </a:extLst>
          </p:cNvPr>
          <p:cNvSpPr>
            <a:spLocks xmlns:a="http://schemas.openxmlformats.org/drawingml/2006/main" noGrp="1"/>
          </p:cNvSpPr>
          <p:nvPr/>
        </p:nvSpPr>
        <p:spPr>
          <a:xfrm xmlns:a="http://schemas.openxmlformats.org/drawingml/2006/main">
            <a:off x="6267450" y="50482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979"/>
          </a:bodyPr>
          <a:lstStyle xmlns:a="http://schemas.openxmlformats.org/drawingml/2006/main"/>
          <a:p xmlns:a="http://schemas.openxmlformats.org/drawingml/2006/main">
            <a:pPr algn="l">
              <a:defRPr sz="1575" b="0">
                <a:solidFill>
                  <a:srgbClr val="333333"/>
                </a:solidFill>
                <a:latin typeface="Arial"/>
                <a:ea typeface="Arial"/>
                <a:cs typeface="Arial"/>
              </a:defRPr>
            </a:pPr>
            <a:r>
              <a:rPr sz="1575" b="0">
                <a:solidFill>
                  <a:srgbClr val="333333"/>
                </a:solidFill>
                <a:latin typeface="Arial"/>
                <a:ea typeface="Arial"/>
                <a:cs typeface="Arial"/>
              </a:rPr>
              <a:t>Overlapping windows, context and repetition cleanup</a:t>
            </a:r>
          </a:p>
        </p:txBody>
      </p:sp>
    </p:spTree>
    <p:extLst>
      <p:ext uri="{BB962C8B-B14F-4D97-AF65-F5344CB8AC3E}">
        <p14:creationId xmlns:p14="http://schemas.microsoft.com/office/powerpoint/2010/main" val="13476050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A991096-7F07-47F7-A260-9C46648CE29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F3E03E-77AB-4353-A564-24CF49D68A99}"/>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Translation</a:t>
            </a:r>
          </a:p>
        </p:txBody>
      </p:sp>
      <p:sp>
        <p:nvSpPr>
          <p:cNvPr id="3" name="">
            <a:extLst xmlns:a="http://schemas.openxmlformats.org/drawingml/2006/main">
              <a:ext uri="{FF2B5EF4-FFF2-40B4-BE49-F238E27FC236}">
                <a16:creationId xmlns:a16="http://schemas.microsoft.com/office/drawing/2014/main" id="{28568056-54EE-4A33-97EE-8B87D8532F49}"/>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05241F-48EC-4284-9296-CC80C2120A22}"/>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914C996-641B-4C08-89A4-4F2D91028170}"/>
              </a:ext>
            </a:extLst>
          </p:cNvPr>
          <p:cNvSpPr>
            <a:spLocks xmlns:a="http://schemas.openxmlformats.org/drawingml/2006/main" noGrp="1"/>
          </p:cNvSpPr>
          <p:nvPr/>
        </p:nvSpPr>
        <p:spPr>
          <a:xfrm xmlns:a="http://schemas.openxmlformats.org/drawingml/2006/main">
            <a:off x="647700" y="18478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053"/>
          </a:bodyPr>
          <a:lstStyle xmlns:a="http://schemas.openxmlformats.org/drawingml/2006/main"/>
          <a:p xmlns:a="http://schemas.openxmlformats.org/drawingml/2006/main">
            <a:pPr algn="l">
              <a:defRPr sz="2850" b="1">
                <a:solidFill>
                  <a:srgbClr val="DB0011"/>
                </a:solidFill>
                <a:latin typeface="Arial"/>
                <a:ea typeface="Arial"/>
                <a:cs typeface="Arial"/>
              </a:defRPr>
            </a:pPr>
            <a:r>
              <a:rPr sz="2850" b="1">
                <a:solidFill>
                  <a:srgbClr val="DB0011"/>
                </a:solidFill>
                <a:latin typeface="Arial"/>
                <a:ea typeface="Arial"/>
                <a:cs typeface="Arial"/>
              </a:rPr>
              <a:t>IndicTrans2</a:t>
            </a:r>
          </a:p>
        </p:txBody>
      </p:sp>
      <p:sp>
        <p:nvSpPr>
          <p:cNvPr id="6" name="">
            <a:extLst xmlns:a="http://schemas.openxmlformats.org/drawingml/2006/main">
              <a:ext uri="{FF2B5EF4-FFF2-40B4-BE49-F238E27FC236}">
                <a16:creationId xmlns:a16="http://schemas.microsoft.com/office/drawing/2014/main" id="{ABF02DAD-0C13-4D02-9ED8-AB8DFE4AE98F}"/>
              </a:ext>
            </a:extLst>
          </p:cNvPr>
          <p:cNvSpPr>
            <a:spLocks xmlns:a="http://schemas.openxmlformats.org/drawingml/2006/main" noGrp="1"/>
          </p:cNvSpPr>
          <p:nvPr/>
        </p:nvSpPr>
        <p:spPr>
          <a:xfrm xmlns:a="http://schemas.openxmlformats.org/drawingml/2006/main">
            <a:off x="647700" y="23812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p xmlns:a="http://schemas.openxmlformats.org/drawingml/2006/main">
            <a:pPr algn="l">
              <a:defRPr sz="1725" b="0">
                <a:solidFill>
                  <a:srgbClr val="5C5C5C"/>
                </a:solidFill>
                <a:latin typeface="Arial"/>
                <a:ea typeface="Arial"/>
                <a:cs typeface="Arial"/>
              </a:defRPr>
            </a:pPr>
            <a:r>
              <a:rPr sz="1725" b="0">
                <a:solidFill>
                  <a:srgbClr val="5C5C5C"/>
                </a:solidFill>
                <a:latin typeface="Arial"/>
                <a:ea typeface="Arial"/>
                <a:cs typeface="Arial"/>
              </a:rPr>
              <a:t>Indian-language translation with local CTranslate2 inference</a:t>
            </a:r>
          </a:p>
        </p:txBody>
      </p:sp>
      <p:sp>
        <p:nvSpPr>
          <p:cNvPr id="7" name="">
            <a:extLst xmlns:a="http://schemas.openxmlformats.org/drawingml/2006/main">
              <a:ext uri="{FF2B5EF4-FFF2-40B4-BE49-F238E27FC236}">
                <a16:creationId xmlns:a16="http://schemas.microsoft.com/office/drawing/2014/main" id="{45E07500-1D90-45F9-9C73-F5606291E1FF}"/>
              </a:ext>
            </a:extLst>
          </p:cNvPr>
          <p:cNvSpPr>
            <a:spLocks xmlns:a="http://schemas.openxmlformats.org/drawingml/2006/main" noGrp="1"/>
          </p:cNvSpPr>
          <p:nvPr/>
        </p:nvSpPr>
        <p:spPr>
          <a:xfrm xmlns:a="http://schemas.openxmlformats.org/drawingml/2006/main">
            <a:off x="647700" y="30099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C6E75A-EA44-4D7B-8213-F4525A209D39}"/>
              </a:ext>
            </a:extLst>
          </p:cNvPr>
          <p:cNvSpPr>
            <a:spLocks xmlns:a="http://schemas.openxmlformats.org/drawingml/2006/main" noGrp="1"/>
          </p:cNvSpPr>
          <p:nvPr/>
        </p:nvSpPr>
        <p:spPr>
          <a:xfrm xmlns:a="http://schemas.openxmlformats.org/drawingml/2006/main">
            <a:off x="647700" y="3543300"/>
            <a:ext cx="400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5909"/>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English and Indic-language routes</a:t>
            </a:r>
          </a:p>
        </p:txBody>
      </p:sp>
      <p:sp>
        <p:nvSpPr>
          <p:cNvPr id="9" name="">
            <a:extLst xmlns:a="http://schemas.openxmlformats.org/drawingml/2006/main">
              <a:ext uri="{FF2B5EF4-FFF2-40B4-BE49-F238E27FC236}">
                <a16:creationId xmlns:a16="http://schemas.microsoft.com/office/drawing/2014/main" id="{922BB19F-EC7A-408E-B206-EAEFC421B4CA}"/>
              </a:ext>
            </a:extLst>
          </p:cNvPr>
          <p:cNvSpPr>
            <a:spLocks xmlns:a="http://schemas.openxmlformats.org/drawingml/2006/main" noGrp="1"/>
          </p:cNvSpPr>
          <p:nvPr/>
        </p:nvSpPr>
        <p:spPr>
          <a:xfrm xmlns:a="http://schemas.openxmlformats.org/drawingml/2006/main">
            <a:off x="647700" y="396240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333333"/>
                </a:solidFill>
                <a:latin typeface="Arial"/>
                <a:ea typeface="Arial"/>
                <a:cs typeface="Arial"/>
              </a:defRPr>
            </a:pPr>
            <a:r>
              <a:rPr sz="1650" b="0">
                <a:solidFill>
                  <a:srgbClr val="333333"/>
                </a:solidFill>
                <a:latin typeface="Arial"/>
                <a:ea typeface="Arial"/>
                <a:cs typeface="Arial"/>
              </a:rPr>
              <a:t>The corresponding local model handles English to Hindi or Marathi, and Hindi or Marathi to English.</a:t>
            </a:r>
          </a:p>
        </p:txBody>
      </p:sp>
      <p:sp>
        <p:nvSpPr>
          <p:cNvPr id="10" name="">
            <a:extLst xmlns:a="http://schemas.openxmlformats.org/drawingml/2006/main">
              <a:ext uri="{FF2B5EF4-FFF2-40B4-BE49-F238E27FC236}">
                <a16:creationId xmlns:a16="http://schemas.microsoft.com/office/drawing/2014/main" id="{853801FD-8909-42BD-A8CC-65BAAC995EC7}"/>
              </a:ext>
            </a:extLst>
          </p:cNvPr>
          <p:cNvSpPr>
            <a:spLocks xmlns:a="http://schemas.openxmlformats.org/drawingml/2006/main" noGrp="1"/>
          </p:cNvSpPr>
          <p:nvPr/>
        </p:nvSpPr>
        <p:spPr>
          <a:xfrm xmlns:a="http://schemas.openxmlformats.org/drawingml/2006/main">
            <a:off x="6343650" y="3543300"/>
            <a:ext cx="400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5909"/>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Hindi and Marathi route</a:t>
            </a:r>
          </a:p>
        </p:txBody>
      </p:sp>
      <p:sp>
        <p:nvSpPr>
          <p:cNvPr id="11" name="">
            <a:extLst xmlns:a="http://schemas.openxmlformats.org/drawingml/2006/main">
              <a:ext uri="{FF2B5EF4-FFF2-40B4-BE49-F238E27FC236}">
                <a16:creationId xmlns:a16="http://schemas.microsoft.com/office/drawing/2014/main" id="{F4D75197-C618-4440-BD41-3BA309D36ADB}"/>
              </a:ext>
            </a:extLst>
          </p:cNvPr>
          <p:cNvSpPr>
            <a:spLocks xmlns:a="http://schemas.openxmlformats.org/drawingml/2006/main" noGrp="1"/>
          </p:cNvSpPr>
          <p:nvPr/>
        </p:nvSpPr>
        <p:spPr>
          <a:xfrm xmlns:a="http://schemas.openxmlformats.org/drawingml/2006/main">
            <a:off x="6343650" y="396240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893"/>
          </a:bodyPr>
          <a:lstStyle xmlns:a="http://schemas.openxmlformats.org/drawingml/2006/main"/>
          <a:p xmlns:a="http://schemas.openxmlformats.org/drawingml/2006/main">
            <a:pPr algn="l">
              <a:defRPr sz="1650" b="0">
                <a:solidFill>
                  <a:srgbClr val="333333"/>
                </a:solidFill>
                <a:latin typeface="Arial"/>
                <a:ea typeface="Arial"/>
                <a:cs typeface="Arial"/>
              </a:defRPr>
            </a:pPr>
            <a:r>
              <a:rPr sz="1650" b="0">
                <a:solidFill>
                  <a:srgbClr val="333333"/>
                </a:solidFill>
                <a:latin typeface="Arial"/>
                <a:ea typeface="Arial"/>
                <a:cs typeface="Arial"/>
              </a:rPr>
              <a:t>The application uses local English as an intermediate language to cover Hindi to Marathi and Marathi to Hindi.</a:t>
            </a:r>
          </a:p>
        </p:txBody>
      </p:sp>
      <p:sp>
        <p:nvSpPr>
          <p:cNvPr id="12" name="">
            <a:extLst xmlns:a="http://schemas.openxmlformats.org/drawingml/2006/main">
              <a:ext uri="{FF2B5EF4-FFF2-40B4-BE49-F238E27FC236}">
                <a16:creationId xmlns:a16="http://schemas.microsoft.com/office/drawing/2014/main" id="{E9E0845C-1B97-4E8E-8E64-6263EE629075}"/>
              </a:ext>
            </a:extLst>
          </p:cNvPr>
          <p:cNvSpPr>
            <a:spLocks xmlns:a="http://schemas.openxmlformats.org/drawingml/2006/main" noGrp="1"/>
          </p:cNvSpPr>
          <p:nvPr/>
        </p:nvSpPr>
        <p:spPr>
          <a:xfrm xmlns:a="http://schemas.openxmlformats.org/drawingml/2006/main">
            <a:off x="647700" y="5267325"/>
            <a:ext cx="2333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5909"/>
          </a:bodyPr>
          <a:lstStyle xmlns:a="http://schemas.openxmlformats.org/drawingml/2006/main"/>
          <a:p xmlns:a="http://schemas.openxmlformats.org/drawingml/2006/main">
            <a:pPr algn="l">
              <a:defRPr sz="1650" b="1">
                <a:solidFill>
                  <a:srgbClr val="DB0011"/>
                </a:solidFill>
                <a:latin typeface="Arial"/>
                <a:ea typeface="Arial"/>
                <a:cs typeface="Arial"/>
              </a:defRPr>
            </a:pPr>
            <a:r>
              <a:rPr sz="1650" b="1">
                <a:solidFill>
                  <a:srgbClr val="DB0011"/>
                </a:solidFill>
                <a:latin typeface="Arial"/>
                <a:ea typeface="Arial"/>
                <a:cs typeface="Arial"/>
              </a:rPr>
              <a:t>Context control</a:t>
            </a:r>
          </a:p>
        </p:txBody>
      </p:sp>
      <p:sp>
        <p:nvSpPr>
          <p:cNvPr id="13" name="">
            <a:extLst xmlns:a="http://schemas.openxmlformats.org/drawingml/2006/main">
              <a:ext uri="{FF2B5EF4-FFF2-40B4-BE49-F238E27FC236}">
                <a16:creationId xmlns:a16="http://schemas.microsoft.com/office/drawing/2014/main" id="{0C1A4E2F-9383-4E3A-AAF2-7BCF292880A8}"/>
              </a:ext>
            </a:extLst>
          </p:cNvPr>
          <p:cNvSpPr>
            <a:spLocks xmlns:a="http://schemas.openxmlformats.org/drawingml/2006/main" noGrp="1"/>
          </p:cNvSpPr>
          <p:nvPr/>
        </p:nvSpPr>
        <p:spPr>
          <a:xfrm xmlns:a="http://schemas.openxmlformats.org/drawingml/2006/main">
            <a:off x="2952750" y="5267325"/>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03"/>
          </a:bodyPr>
          <a:lstStyle xmlns:a="http://schemas.openxmlformats.org/drawingml/2006/main"/>
          <a:p xmlns:a="http://schemas.openxmlformats.org/drawingml/2006/main">
            <a:pPr algn="l">
              <a:defRPr sz="1650" b="0">
                <a:solidFill>
                  <a:srgbClr val="333333"/>
                </a:solidFill>
                <a:latin typeface="Arial"/>
                <a:ea typeface="Arial"/>
                <a:cs typeface="Arial"/>
              </a:defRPr>
            </a:pPr>
            <a:r>
              <a:rPr sz="1650" b="0">
                <a:solidFill>
                  <a:srgbClr val="333333"/>
                </a:solidFill>
                <a:latin typeface="Arial"/>
                <a:ea typeface="Arial"/>
                <a:cs typeface="Arial"/>
              </a:rPr>
              <a:t>Adjacent transcript segments are merged before translation. Repetition cleanup runs after decoding.</a:t>
            </a:r>
          </a:p>
        </p:txBody>
      </p:sp>
    </p:spTree>
    <p:extLst>
      <p:ext uri="{BB962C8B-B14F-4D97-AF65-F5344CB8AC3E}">
        <p14:creationId xmlns:p14="http://schemas.microsoft.com/office/powerpoint/2010/main" val="17781056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1FC94A-1129-48CC-A28A-D4D7773B072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9FE6A2-5E5C-4524-887D-94F377D06915}"/>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Voice generation</a:t>
            </a:r>
          </a:p>
        </p:txBody>
      </p:sp>
      <p:sp>
        <p:nvSpPr>
          <p:cNvPr id="3" name="">
            <a:extLst xmlns:a="http://schemas.openxmlformats.org/drawingml/2006/main">
              <a:ext uri="{FF2B5EF4-FFF2-40B4-BE49-F238E27FC236}">
                <a16:creationId xmlns:a16="http://schemas.microsoft.com/office/drawing/2014/main" id="{F8B114D5-2FCE-4E56-A9DD-E390D06FA3E9}"/>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6C377C-7AC8-4554-8873-13752FBA51EB}"/>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4A95541-0CF1-4FFC-BDDC-4E787C794D45}"/>
              </a:ext>
            </a:extLst>
          </p:cNvPr>
          <p:cNvSpPr>
            <a:spLocks xmlns:a="http://schemas.openxmlformats.org/drawingml/2006/main" noGrp="1"/>
          </p:cNvSpPr>
          <p:nvPr/>
        </p:nvSpPr>
        <p:spPr>
          <a:xfrm xmlns:a="http://schemas.openxmlformats.org/drawingml/2006/main">
            <a:off x="647700" y="18478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1053"/>
          </a:bodyPr>
          <a:lstStyle xmlns:a="http://schemas.openxmlformats.org/drawingml/2006/main"/>
          <a:p xmlns:a="http://schemas.openxmlformats.org/drawingml/2006/main">
            <a:pPr algn="l">
              <a:defRPr sz="2850" b="1">
                <a:solidFill>
                  <a:srgbClr val="DB0011"/>
                </a:solidFill>
                <a:latin typeface="Arial"/>
                <a:ea typeface="Arial"/>
                <a:cs typeface="Arial"/>
              </a:defRPr>
            </a:pPr>
            <a:r>
              <a:rPr sz="2850" b="1">
                <a:solidFill>
                  <a:srgbClr val="DB0011"/>
                </a:solidFill>
                <a:latin typeface="Arial"/>
                <a:ea typeface="Arial"/>
                <a:cs typeface="Arial"/>
              </a:rPr>
              <a:t>Sherpa-ONNX VITS</a:t>
            </a:r>
          </a:p>
        </p:txBody>
      </p:sp>
      <p:sp>
        <p:nvSpPr>
          <p:cNvPr id="6" name="">
            <a:extLst xmlns:a="http://schemas.openxmlformats.org/drawingml/2006/main">
              <a:ext uri="{FF2B5EF4-FFF2-40B4-BE49-F238E27FC236}">
                <a16:creationId xmlns:a16="http://schemas.microsoft.com/office/drawing/2014/main" id="{E40D1EF3-50F4-436F-BAC8-D8824FDDFB89}"/>
              </a:ext>
            </a:extLst>
          </p:cNvPr>
          <p:cNvSpPr>
            <a:spLocks xmlns:a="http://schemas.openxmlformats.org/drawingml/2006/main" noGrp="1"/>
          </p:cNvSpPr>
          <p:nvPr/>
        </p:nvSpPr>
        <p:spPr>
          <a:xfrm xmlns:a="http://schemas.openxmlformats.org/drawingml/2006/main">
            <a:off x="647700" y="23812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p xmlns:a="http://schemas.openxmlformats.org/drawingml/2006/main">
            <a:pPr algn="l">
              <a:defRPr sz="1725" b="0">
                <a:solidFill>
                  <a:srgbClr val="5C5C5C"/>
                </a:solidFill>
                <a:latin typeface="Arial"/>
                <a:ea typeface="Arial"/>
                <a:cs typeface="Arial"/>
              </a:defRPr>
            </a:pPr>
            <a:r>
              <a:rPr sz="1725" b="0">
                <a:solidFill>
                  <a:srgbClr val="5C5C5C"/>
                </a:solidFill>
                <a:latin typeface="Arial"/>
                <a:ea typeface="Arial"/>
                <a:cs typeface="Arial"/>
              </a:rPr>
              <a:t>Local English, Hindi and Marathi text-to-speech models</a:t>
            </a:r>
          </a:p>
        </p:txBody>
      </p:sp>
      <p:sp>
        <p:nvSpPr>
          <p:cNvPr id="7" name="">
            <a:extLst xmlns:a="http://schemas.openxmlformats.org/drawingml/2006/main">
              <a:ext uri="{FF2B5EF4-FFF2-40B4-BE49-F238E27FC236}">
                <a16:creationId xmlns:a16="http://schemas.microsoft.com/office/drawing/2014/main" id="{BE28794C-FA15-4AC0-8C76-C35DBCD21505}"/>
              </a:ext>
            </a:extLst>
          </p:cNvPr>
          <p:cNvSpPr>
            <a:spLocks xmlns:a="http://schemas.openxmlformats.org/drawingml/2006/main" noGrp="1"/>
          </p:cNvSpPr>
          <p:nvPr/>
        </p:nvSpPr>
        <p:spPr>
          <a:xfrm xmlns:a="http://schemas.openxmlformats.org/drawingml/2006/main">
            <a:off x="647700" y="30099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FC01D07-531B-4692-8C99-45052469E0E8}"/>
              </a:ext>
            </a:extLst>
          </p:cNvPr>
          <p:cNvSpPr>
            <a:spLocks xmlns:a="http://schemas.openxmlformats.org/drawingml/2006/main" noGrp="1"/>
          </p:cNvSpPr>
          <p:nvPr/>
        </p:nvSpPr>
        <p:spPr>
          <a:xfrm xmlns:a="http://schemas.openxmlformats.org/drawingml/2006/main">
            <a:off x="647700" y="36576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136"/>
          </a:bodyPr>
          <a:lstStyle xmlns:a="http://schemas.openxmlformats.org/drawingml/2006/main"/>
          <a:p xmlns:a="http://schemas.openxmlformats.org/drawingml/2006/main">
            <a:pPr algn="l">
              <a:defRPr sz="2025" b="1">
                <a:solidFill>
                  <a:srgbClr val="333333"/>
                </a:solidFill>
                <a:latin typeface="Arial"/>
                <a:ea typeface="Arial"/>
                <a:cs typeface="Arial"/>
              </a:defRPr>
            </a:pPr>
            <a:r>
              <a:rPr sz="2025" b="1">
                <a:solidFill>
                  <a:srgbClr val="333333"/>
                </a:solidFill>
                <a:latin typeface="Arial"/>
                <a:ea typeface="Arial"/>
                <a:cs typeface="Arial"/>
              </a:rPr>
              <a:t>Continuous audio</a:t>
            </a:r>
          </a:p>
        </p:txBody>
      </p:sp>
      <p:sp>
        <p:nvSpPr>
          <p:cNvPr id="9" name="">
            <a:extLst xmlns:a="http://schemas.openxmlformats.org/drawingml/2006/main">
              <a:ext uri="{FF2B5EF4-FFF2-40B4-BE49-F238E27FC236}">
                <a16:creationId xmlns:a16="http://schemas.microsoft.com/office/drawing/2014/main" id="{98A482A6-3633-4157-B711-51B68720A42F}"/>
              </a:ext>
            </a:extLst>
          </p:cNvPr>
          <p:cNvSpPr>
            <a:spLocks xmlns:a="http://schemas.openxmlformats.org/drawingml/2006/main" noGrp="1"/>
          </p:cNvSpPr>
          <p:nvPr/>
        </p:nvSpPr>
        <p:spPr>
          <a:xfrm xmlns:a="http://schemas.openxmlformats.org/drawingml/2006/main">
            <a:off x="647700" y="4171950"/>
            <a:ext cx="4524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993"/>
          </a:bodyPr>
          <a:lstStyle xmlns:a="http://schemas.openxmlformats.org/drawingml/2006/main"/>
          <a:p xmlns:a="http://schemas.openxmlformats.org/drawingml/2006/main">
            <a:pPr algn="l">
              <a:defRPr sz="1650" b="0">
                <a:solidFill>
                  <a:srgbClr val="5C5C5C"/>
                </a:solidFill>
                <a:latin typeface="Arial"/>
                <a:ea typeface="Arial"/>
                <a:cs typeface="Arial"/>
              </a:defRPr>
            </a:pPr>
            <a:r>
              <a:rPr sz="1650" b="0">
                <a:solidFill>
                  <a:srgbClr val="5C5C5C"/>
                </a:solidFill>
                <a:latin typeface="Arial"/>
                <a:ea typeface="Arial"/>
                <a:cs typeface="Arial"/>
              </a:rPr>
              <a:t>A clean WAV file for listening and sharing, without adding artificial pauses between translated clips.</a:t>
            </a:r>
          </a:p>
        </p:txBody>
      </p:sp>
      <p:sp>
        <p:nvSpPr>
          <p:cNvPr id="10" name="">
            <a:extLst xmlns:a="http://schemas.openxmlformats.org/drawingml/2006/main">
              <a:ext uri="{FF2B5EF4-FFF2-40B4-BE49-F238E27FC236}">
                <a16:creationId xmlns:a16="http://schemas.microsoft.com/office/drawing/2014/main" id="{300D3087-E7FA-4F76-9A72-D62729B1C55C}"/>
              </a:ext>
            </a:extLst>
          </p:cNvPr>
          <p:cNvSpPr>
            <a:spLocks xmlns:a="http://schemas.openxmlformats.org/drawingml/2006/main" noGrp="1"/>
          </p:cNvSpPr>
          <p:nvPr/>
        </p:nvSpPr>
        <p:spPr>
          <a:xfrm xmlns:a="http://schemas.openxmlformats.org/drawingml/2006/main">
            <a:off x="5857875" y="3429000"/>
            <a:ext cx="9525" cy="204787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5383E6-87F9-447C-9FE8-7DAEE6DB69DB}"/>
              </a:ext>
            </a:extLst>
          </p:cNvPr>
          <p:cNvSpPr>
            <a:spLocks xmlns:a="http://schemas.openxmlformats.org/drawingml/2006/main" noGrp="1"/>
          </p:cNvSpPr>
          <p:nvPr/>
        </p:nvSpPr>
        <p:spPr>
          <a:xfrm xmlns:a="http://schemas.openxmlformats.org/drawingml/2006/main">
            <a:off x="6381750" y="36576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136"/>
          </a:bodyPr>
          <a:lstStyle xmlns:a="http://schemas.openxmlformats.org/drawingml/2006/main"/>
          <a:p xmlns:a="http://schemas.openxmlformats.org/drawingml/2006/main">
            <a:pPr algn="l">
              <a:defRPr sz="2025" b="1">
                <a:solidFill>
                  <a:srgbClr val="333333"/>
                </a:solidFill>
                <a:latin typeface="Arial"/>
                <a:ea typeface="Arial"/>
                <a:cs typeface="Arial"/>
              </a:defRPr>
            </a:pPr>
            <a:r>
              <a:rPr sz="2025" b="1">
                <a:solidFill>
                  <a:srgbClr val="333333"/>
                </a:solidFill>
                <a:latin typeface="Arial"/>
                <a:ea typeface="Arial"/>
                <a:cs typeface="Arial"/>
              </a:rPr>
              <a:t>Video-timed audio</a:t>
            </a:r>
          </a:p>
        </p:txBody>
      </p:sp>
      <p:sp>
        <p:nvSpPr>
          <p:cNvPr id="12" name="">
            <a:extLst xmlns:a="http://schemas.openxmlformats.org/drawingml/2006/main">
              <a:ext uri="{FF2B5EF4-FFF2-40B4-BE49-F238E27FC236}">
                <a16:creationId xmlns:a16="http://schemas.microsoft.com/office/drawing/2014/main" id="{91C81AB2-3226-41A7-ACE8-53C3E348741D}"/>
              </a:ext>
            </a:extLst>
          </p:cNvPr>
          <p:cNvSpPr>
            <a:spLocks xmlns:a="http://schemas.openxmlformats.org/drawingml/2006/main" noGrp="1"/>
          </p:cNvSpPr>
          <p:nvPr/>
        </p:nvSpPr>
        <p:spPr>
          <a:xfrm xmlns:a="http://schemas.openxmlformats.org/drawingml/2006/main">
            <a:off x="6381750" y="417195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13"/>
          </a:bodyPr>
          <a:lstStyle xmlns:a="http://schemas.openxmlformats.org/drawingml/2006/main"/>
          <a:p xmlns:a="http://schemas.openxmlformats.org/drawingml/2006/main">
            <a:pPr algn="l">
              <a:defRPr sz="1650" b="0">
                <a:solidFill>
                  <a:srgbClr val="5C5C5C"/>
                </a:solidFill>
                <a:latin typeface="Arial"/>
                <a:ea typeface="Arial"/>
                <a:cs typeface="Arial"/>
              </a:defRPr>
            </a:pPr>
            <a:r>
              <a:rPr sz="1650" b="0">
                <a:solidFill>
                  <a:srgbClr val="5C5C5C"/>
                </a:solidFill>
                <a:latin typeface="Arial"/>
                <a:ea typeface="Arial"/>
                <a:cs typeface="Arial"/>
              </a:rPr>
              <a:t>A separate WAV track aligned to source timestamps. The final video can retain space needed to match the original scenes.</a:t>
            </a:r>
          </a:p>
        </p:txBody>
      </p:sp>
    </p:spTree>
    <p:extLst>
      <p:ext uri="{BB962C8B-B14F-4D97-AF65-F5344CB8AC3E}">
        <p14:creationId xmlns:p14="http://schemas.microsoft.com/office/powerpoint/2010/main" val="7011146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483557-39B6-43AD-A8A6-8AF7EA2EF44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2C5E8F-D499-4C4B-A2F3-D9907172BD82}"/>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Captions and video export</a:t>
            </a:r>
          </a:p>
        </p:txBody>
      </p:sp>
      <p:sp>
        <p:nvSpPr>
          <p:cNvPr id="3" name="">
            <a:extLst xmlns:a="http://schemas.openxmlformats.org/drawingml/2006/main">
              <a:ext uri="{FF2B5EF4-FFF2-40B4-BE49-F238E27FC236}">
                <a16:creationId xmlns:a16="http://schemas.microsoft.com/office/drawing/2014/main" id="{765D7BAB-0958-4313-90CB-B88499A27BA0}"/>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EF1FF5-338F-443E-A1FE-C2BD69DBB59F}"/>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C9C8A1E-631A-474B-9D5B-48396D504EB5}"/>
              </a:ext>
            </a:extLst>
          </p:cNvPr>
          <p:cNvSpPr>
            <a:spLocks xmlns:a="http://schemas.openxmlformats.org/drawingml/2006/main" noGrp="1"/>
          </p:cNvSpPr>
          <p:nvPr/>
        </p:nvSpPr>
        <p:spPr>
          <a:xfrm xmlns:a="http://schemas.openxmlformats.org/drawingml/2006/main">
            <a:off x="647700" y="195262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571"/>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SRT subtitles</a:t>
            </a:r>
          </a:p>
        </p:txBody>
      </p:sp>
      <p:sp>
        <p:nvSpPr>
          <p:cNvPr id="6" name="">
            <a:extLst xmlns:a="http://schemas.openxmlformats.org/drawingml/2006/main">
              <a:ext uri="{FF2B5EF4-FFF2-40B4-BE49-F238E27FC236}">
                <a16:creationId xmlns:a16="http://schemas.microsoft.com/office/drawing/2014/main" id="{C23A142E-F685-4C7F-ADD2-AACBD8AEFDE4}"/>
              </a:ext>
            </a:extLst>
          </p:cNvPr>
          <p:cNvSpPr>
            <a:spLocks xmlns:a="http://schemas.openxmlformats.org/drawingml/2006/main" noGrp="1"/>
          </p:cNvSpPr>
          <p:nvPr/>
        </p:nvSpPr>
        <p:spPr>
          <a:xfrm xmlns:a="http://schemas.openxmlformats.org/drawingml/2006/main">
            <a:off x="647700" y="2438400"/>
            <a:ext cx="3905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879"/>
          </a:bodyPr>
          <a:lstStyle xmlns:a="http://schemas.openxmlformats.org/drawingml/2006/main"/>
          <a:p xmlns:a="http://schemas.openxmlformats.org/drawingml/2006/main">
            <a:pPr algn="l">
              <a:defRPr sz="1650" b="0">
                <a:solidFill>
                  <a:srgbClr val="333333"/>
                </a:solidFill>
                <a:latin typeface="Arial"/>
                <a:ea typeface="Arial"/>
                <a:cs typeface="Arial"/>
              </a:defRPr>
            </a:pPr>
            <a:r>
              <a:rPr sz="1650" b="0">
                <a:solidFill>
                  <a:srgbClr val="333333"/>
                </a:solidFill>
                <a:latin typeface="Arial"/>
                <a:ea typeface="Arial"/>
                <a:cs typeface="Arial"/>
              </a:rPr>
              <a:t>Translated text and timestamps are written to a standard subtitle file.</a:t>
            </a:r>
          </a:p>
        </p:txBody>
      </p:sp>
      <p:sp>
        <p:nvSpPr>
          <p:cNvPr id="7" name="">
            <a:extLst xmlns:a="http://schemas.openxmlformats.org/drawingml/2006/main">
              <a:ext uri="{FF2B5EF4-FFF2-40B4-BE49-F238E27FC236}">
                <a16:creationId xmlns:a16="http://schemas.microsoft.com/office/drawing/2014/main" id="{F16C914E-F38F-4ACC-A7DC-49FCB66E3B6D}"/>
              </a:ext>
            </a:extLst>
          </p:cNvPr>
          <p:cNvSpPr>
            <a:spLocks xmlns:a="http://schemas.openxmlformats.org/drawingml/2006/main" noGrp="1"/>
          </p:cNvSpPr>
          <p:nvPr/>
        </p:nvSpPr>
        <p:spPr>
          <a:xfrm xmlns:a="http://schemas.openxmlformats.org/drawingml/2006/main">
            <a:off x="4762500" y="195262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571"/>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Dubbed audio</a:t>
            </a:r>
          </a:p>
        </p:txBody>
      </p:sp>
      <p:sp>
        <p:nvSpPr>
          <p:cNvPr id="8" name="">
            <a:extLst xmlns:a="http://schemas.openxmlformats.org/drawingml/2006/main">
              <a:ext uri="{FF2B5EF4-FFF2-40B4-BE49-F238E27FC236}">
                <a16:creationId xmlns:a16="http://schemas.microsoft.com/office/drawing/2014/main" id="{A6AE2154-448C-4909-9563-C08E7A30DF87}"/>
              </a:ext>
            </a:extLst>
          </p:cNvPr>
          <p:cNvSpPr>
            <a:spLocks xmlns:a="http://schemas.openxmlformats.org/drawingml/2006/main" noGrp="1"/>
          </p:cNvSpPr>
          <p:nvPr/>
        </p:nvSpPr>
        <p:spPr>
          <a:xfrm xmlns:a="http://schemas.openxmlformats.org/drawingml/2006/main">
            <a:off x="4762500" y="2438400"/>
            <a:ext cx="3905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879"/>
          </a:bodyPr>
          <a:lstStyle xmlns:a="http://schemas.openxmlformats.org/drawingml/2006/main"/>
          <a:p xmlns:a="http://schemas.openxmlformats.org/drawingml/2006/main">
            <a:pPr algn="l">
              <a:defRPr sz="1650" b="0">
                <a:solidFill>
                  <a:srgbClr val="333333"/>
                </a:solidFill>
                <a:latin typeface="Arial"/>
                <a:ea typeface="Arial"/>
                <a:cs typeface="Arial"/>
              </a:defRPr>
            </a:pPr>
            <a:r>
              <a:rPr sz="1650" b="0">
                <a:solidFill>
                  <a:srgbClr val="333333"/>
                </a:solidFill>
                <a:latin typeface="Arial"/>
                <a:ea typeface="Arial"/>
                <a:cs typeface="Arial"/>
              </a:rPr>
              <a:t>The time-aligned voice track is prepared for the original video.</a:t>
            </a:r>
          </a:p>
        </p:txBody>
      </p:sp>
      <p:sp>
        <p:nvSpPr>
          <p:cNvPr id="9" name="">
            <a:extLst xmlns:a="http://schemas.openxmlformats.org/drawingml/2006/main">
              <a:ext uri="{FF2B5EF4-FFF2-40B4-BE49-F238E27FC236}">
                <a16:creationId xmlns:a16="http://schemas.microsoft.com/office/drawing/2014/main" id="{6F11E6F4-3F9D-4253-A484-64C4385F654F}"/>
              </a:ext>
            </a:extLst>
          </p:cNvPr>
          <p:cNvSpPr>
            <a:spLocks xmlns:a="http://schemas.openxmlformats.org/drawingml/2006/main" noGrp="1"/>
          </p:cNvSpPr>
          <p:nvPr/>
        </p:nvSpPr>
        <p:spPr>
          <a:xfrm xmlns:a="http://schemas.openxmlformats.org/drawingml/2006/main">
            <a:off x="8877300" y="1952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571"/>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Final MP4</a:t>
            </a:r>
          </a:p>
        </p:txBody>
      </p:sp>
      <p:sp>
        <p:nvSpPr>
          <p:cNvPr id="10" name="">
            <a:extLst xmlns:a="http://schemas.openxmlformats.org/drawingml/2006/main">
              <a:ext uri="{FF2B5EF4-FFF2-40B4-BE49-F238E27FC236}">
                <a16:creationId xmlns:a16="http://schemas.microsoft.com/office/drawing/2014/main" id="{99BFC9C3-F08E-48D5-92D5-8CAC00BD823E}"/>
              </a:ext>
            </a:extLst>
          </p:cNvPr>
          <p:cNvSpPr>
            <a:spLocks xmlns:a="http://schemas.openxmlformats.org/drawingml/2006/main" noGrp="1"/>
          </p:cNvSpPr>
          <p:nvPr/>
        </p:nvSpPr>
        <p:spPr>
          <a:xfrm xmlns:a="http://schemas.openxmlformats.org/drawingml/2006/main">
            <a:off x="8877300" y="2438400"/>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2576"/>
          </a:bodyPr>
          <a:lstStyle xmlns:a="http://schemas.openxmlformats.org/drawingml/2006/main"/>
          <a:p xmlns:a="http://schemas.openxmlformats.org/drawingml/2006/main">
            <a:pPr algn="l">
              <a:defRPr sz="1650" b="0">
                <a:solidFill>
                  <a:srgbClr val="333333"/>
                </a:solidFill>
                <a:latin typeface="Arial"/>
                <a:ea typeface="Arial"/>
                <a:cs typeface="Arial"/>
              </a:defRPr>
            </a:pPr>
            <a:r>
              <a:rPr sz="1650" b="0">
                <a:solidFill>
                  <a:srgbClr val="333333"/>
                </a:solidFill>
                <a:latin typeface="Arial"/>
                <a:ea typeface="Arial"/>
                <a:cs typeface="Arial"/>
              </a:rPr>
              <a:t>FFmpeg creates a ready-to-share translated video.</a:t>
            </a:r>
          </a:p>
        </p:txBody>
      </p:sp>
      <p:sp>
        <p:nvSpPr>
          <p:cNvPr id="11" name="">
            <a:extLst xmlns:a="http://schemas.openxmlformats.org/drawingml/2006/main">
              <a:ext uri="{FF2B5EF4-FFF2-40B4-BE49-F238E27FC236}">
                <a16:creationId xmlns:a16="http://schemas.microsoft.com/office/drawing/2014/main" id="{5289F333-D5C7-45E2-B259-18A73B4AA0F6}"/>
              </a:ext>
            </a:extLst>
          </p:cNvPr>
          <p:cNvSpPr>
            <a:spLocks xmlns:a="http://schemas.openxmlformats.org/drawingml/2006/main" noGrp="1"/>
          </p:cNvSpPr>
          <p:nvPr/>
        </p:nvSpPr>
        <p:spPr>
          <a:xfrm xmlns:a="http://schemas.openxmlformats.org/drawingml/2006/main">
            <a:off x="647700" y="356235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247D01-E8FD-4C50-9BED-FBD7CB8E0C18}"/>
              </a:ext>
            </a:extLst>
          </p:cNvPr>
          <p:cNvSpPr>
            <a:spLocks xmlns:a="http://schemas.openxmlformats.org/drawingml/2006/main" noGrp="1"/>
          </p:cNvSpPr>
          <p:nvPr/>
        </p:nvSpPr>
        <p:spPr>
          <a:xfrm xmlns:a="http://schemas.openxmlformats.org/drawingml/2006/main">
            <a:off x="647700" y="4152900"/>
            <a:ext cx="9048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929"/>
          </a:bodyPr>
          <a:lstStyle xmlns:a="http://schemas.openxmlformats.org/drawingml/2006/main"/>
          <a:p xmlns:a="http://schemas.openxmlformats.org/drawingml/2006/main">
            <a:pPr algn="l">
              <a:defRPr sz="2100" b="1">
                <a:solidFill>
                  <a:srgbClr val="333333"/>
                </a:solidFill>
                <a:latin typeface="Arial"/>
                <a:ea typeface="Arial"/>
                <a:cs typeface="Arial"/>
              </a:defRPr>
            </a:pPr>
            <a:r>
              <a:rPr sz="2100" b="1">
                <a:solidFill>
                  <a:srgbClr val="333333"/>
                </a:solidFill>
                <a:latin typeface="Arial"/>
                <a:ea typeface="Arial"/>
                <a:cs typeface="Arial"/>
              </a:rPr>
              <a:t>The operator can download the subtitle file separately or create a video with captions burned into the final MP4.</a:t>
            </a:r>
          </a:p>
        </p:txBody>
      </p:sp>
    </p:spTree>
    <p:extLst>
      <p:ext uri="{BB962C8B-B14F-4D97-AF65-F5344CB8AC3E}">
        <p14:creationId xmlns:p14="http://schemas.microsoft.com/office/powerpoint/2010/main" val="9493693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F59ABE-A505-4639-8A51-E7272E4715F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01BE93-B6CD-4980-99B3-BFC55E3D04C4}"/>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Quality and reliability</a:t>
            </a:r>
          </a:p>
        </p:txBody>
      </p:sp>
      <p:sp>
        <p:nvSpPr>
          <p:cNvPr id="3" name="">
            <a:extLst xmlns:a="http://schemas.openxmlformats.org/drawingml/2006/main">
              <a:ext uri="{FF2B5EF4-FFF2-40B4-BE49-F238E27FC236}">
                <a16:creationId xmlns:a16="http://schemas.microsoft.com/office/drawing/2014/main" id="{B415CA59-F980-4156-8488-23D9DD081B36}"/>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710621-9842-41AF-8ED9-E75AB57486EC}"/>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CC85CCF-1EF9-4599-9BF3-CE98D0261BFC}"/>
              </a:ext>
            </a:extLst>
          </p:cNvPr>
          <p:cNvSpPr>
            <a:spLocks xmlns:a="http://schemas.openxmlformats.org/drawingml/2006/main" noGrp="1"/>
          </p:cNvSpPr>
          <p:nvPr/>
        </p:nvSpPr>
        <p:spPr>
          <a:xfrm xmlns:a="http://schemas.openxmlformats.org/drawingml/2006/main">
            <a:off x="647700" y="2095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889"/>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Skipped speech</a:t>
            </a:r>
          </a:p>
        </p:txBody>
      </p:sp>
      <p:sp>
        <p:nvSpPr>
          <p:cNvPr id="6" name="">
            <a:extLst xmlns:a="http://schemas.openxmlformats.org/drawingml/2006/main">
              <a:ext uri="{FF2B5EF4-FFF2-40B4-BE49-F238E27FC236}">
                <a16:creationId xmlns:a16="http://schemas.microsoft.com/office/drawing/2014/main" id="{606A65DB-176C-43E8-81E7-260B7B60DF51}"/>
              </a:ext>
            </a:extLst>
          </p:cNvPr>
          <p:cNvSpPr>
            <a:spLocks xmlns:a="http://schemas.openxmlformats.org/drawingml/2006/main" noGrp="1"/>
          </p:cNvSpPr>
          <p:nvPr/>
        </p:nvSpPr>
        <p:spPr>
          <a:xfrm xmlns:a="http://schemas.openxmlformats.org/drawingml/2006/main">
            <a:off x="4095750" y="209550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Overlapping ASR windows, midpoint ownership and gap recovery</a:t>
            </a:r>
          </a:p>
        </p:txBody>
      </p:sp>
      <p:sp>
        <p:nvSpPr>
          <p:cNvPr id="7" name="">
            <a:extLst xmlns:a="http://schemas.openxmlformats.org/drawingml/2006/main">
              <a:ext uri="{FF2B5EF4-FFF2-40B4-BE49-F238E27FC236}">
                <a16:creationId xmlns:a16="http://schemas.microsoft.com/office/drawing/2014/main" id="{C4438D75-7CB5-4607-ACF8-1ED396B8E9EA}"/>
              </a:ext>
            </a:extLst>
          </p:cNvPr>
          <p:cNvSpPr>
            <a:spLocks xmlns:a="http://schemas.openxmlformats.org/drawingml/2006/main" noGrp="1"/>
          </p:cNvSpPr>
          <p:nvPr/>
        </p:nvSpPr>
        <p:spPr>
          <a:xfrm xmlns:a="http://schemas.openxmlformats.org/drawingml/2006/main">
            <a:off x="647700" y="2676525"/>
            <a:ext cx="10163175"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3F6F12-15D9-4065-B5F1-3812A3B96B4A}"/>
              </a:ext>
            </a:extLst>
          </p:cNvPr>
          <p:cNvSpPr>
            <a:spLocks xmlns:a="http://schemas.openxmlformats.org/drawingml/2006/main" noGrp="1"/>
          </p:cNvSpPr>
          <p:nvPr/>
        </p:nvSpPr>
        <p:spPr>
          <a:xfrm xmlns:a="http://schemas.openxmlformats.org/drawingml/2006/main">
            <a:off x="647700" y="2971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889"/>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Repeated words</a:t>
            </a:r>
          </a:p>
        </p:txBody>
      </p:sp>
      <p:sp>
        <p:nvSpPr>
          <p:cNvPr id="9" name="">
            <a:extLst xmlns:a="http://schemas.openxmlformats.org/drawingml/2006/main">
              <a:ext uri="{FF2B5EF4-FFF2-40B4-BE49-F238E27FC236}">
                <a16:creationId xmlns:a16="http://schemas.microsoft.com/office/drawing/2014/main" id="{F57DCA13-5895-44A3-A04F-9A3BEB5D9B6C}"/>
              </a:ext>
            </a:extLst>
          </p:cNvPr>
          <p:cNvSpPr>
            <a:spLocks xmlns:a="http://schemas.openxmlformats.org/drawingml/2006/main" noGrp="1"/>
          </p:cNvSpPr>
          <p:nvPr/>
        </p:nvSpPr>
        <p:spPr>
          <a:xfrm xmlns:a="http://schemas.openxmlformats.org/drawingml/2006/main">
            <a:off x="4095750" y="297180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Consecutive-word and phrase-level repetition cleanup</a:t>
            </a:r>
          </a:p>
        </p:txBody>
      </p:sp>
      <p:sp>
        <p:nvSpPr>
          <p:cNvPr id="10" name="">
            <a:extLst xmlns:a="http://schemas.openxmlformats.org/drawingml/2006/main">
              <a:ext uri="{FF2B5EF4-FFF2-40B4-BE49-F238E27FC236}">
                <a16:creationId xmlns:a16="http://schemas.microsoft.com/office/drawing/2014/main" id="{F385D0D2-5F65-4F9A-BD11-961A85C16AD7}"/>
              </a:ext>
            </a:extLst>
          </p:cNvPr>
          <p:cNvSpPr>
            <a:spLocks xmlns:a="http://schemas.openxmlformats.org/drawingml/2006/main" noGrp="1"/>
          </p:cNvSpPr>
          <p:nvPr/>
        </p:nvSpPr>
        <p:spPr>
          <a:xfrm xmlns:a="http://schemas.openxmlformats.org/drawingml/2006/main">
            <a:off x="647700" y="3552825"/>
            <a:ext cx="10163175"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8185F1-77D4-4AF7-99BC-91A7A0A79FEC}"/>
              </a:ext>
            </a:extLst>
          </p:cNvPr>
          <p:cNvSpPr>
            <a:spLocks xmlns:a="http://schemas.openxmlformats.org/drawingml/2006/main" noGrp="1"/>
          </p:cNvSpPr>
          <p:nvPr/>
        </p:nvSpPr>
        <p:spPr>
          <a:xfrm xmlns:a="http://schemas.openxmlformats.org/drawingml/2006/main">
            <a:off x="647700" y="38481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889"/>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Translation context</a:t>
            </a:r>
          </a:p>
        </p:txBody>
      </p:sp>
      <p:sp>
        <p:nvSpPr>
          <p:cNvPr id="12" name="">
            <a:extLst xmlns:a="http://schemas.openxmlformats.org/drawingml/2006/main">
              <a:ext uri="{FF2B5EF4-FFF2-40B4-BE49-F238E27FC236}">
                <a16:creationId xmlns:a16="http://schemas.microsoft.com/office/drawing/2014/main" id="{474D5FA1-801A-4608-92E4-C8FC1A02F7FD}"/>
              </a:ext>
            </a:extLst>
          </p:cNvPr>
          <p:cNvSpPr>
            <a:spLocks xmlns:a="http://schemas.openxmlformats.org/drawingml/2006/main" noGrp="1"/>
          </p:cNvSpPr>
          <p:nvPr/>
        </p:nvSpPr>
        <p:spPr>
          <a:xfrm xmlns:a="http://schemas.openxmlformats.org/drawingml/2006/main">
            <a:off x="4095750" y="384810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Adjacent transcript segments are merged before translation</a:t>
            </a:r>
          </a:p>
        </p:txBody>
      </p:sp>
      <p:sp>
        <p:nvSpPr>
          <p:cNvPr id="13" name="">
            <a:extLst xmlns:a="http://schemas.openxmlformats.org/drawingml/2006/main">
              <a:ext uri="{FF2B5EF4-FFF2-40B4-BE49-F238E27FC236}">
                <a16:creationId xmlns:a16="http://schemas.microsoft.com/office/drawing/2014/main" id="{8462FDD1-9BB8-4B52-A304-BFD5A90D8534}"/>
              </a:ext>
            </a:extLst>
          </p:cNvPr>
          <p:cNvSpPr>
            <a:spLocks xmlns:a="http://schemas.openxmlformats.org/drawingml/2006/main" noGrp="1"/>
          </p:cNvSpPr>
          <p:nvPr/>
        </p:nvSpPr>
        <p:spPr>
          <a:xfrm xmlns:a="http://schemas.openxmlformats.org/drawingml/2006/main">
            <a:off x="647700" y="4429125"/>
            <a:ext cx="10163175"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552293-44F5-443E-A5F4-63EB17833937}"/>
              </a:ext>
            </a:extLst>
          </p:cNvPr>
          <p:cNvSpPr>
            <a:spLocks xmlns:a="http://schemas.openxmlformats.org/drawingml/2006/main" noGrp="1"/>
          </p:cNvSpPr>
          <p:nvPr/>
        </p:nvSpPr>
        <p:spPr>
          <a:xfrm xmlns:a="http://schemas.openxmlformats.org/drawingml/2006/main">
            <a:off x="647700" y="47244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889"/>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Audio and video timing</a:t>
            </a:r>
          </a:p>
        </p:txBody>
      </p:sp>
      <p:sp>
        <p:nvSpPr>
          <p:cNvPr id="15" name="">
            <a:extLst xmlns:a="http://schemas.openxmlformats.org/drawingml/2006/main">
              <a:ext uri="{FF2B5EF4-FFF2-40B4-BE49-F238E27FC236}">
                <a16:creationId xmlns:a16="http://schemas.microsoft.com/office/drawing/2014/main" id="{691243CF-D709-403E-99B6-4F39B1ABEDDF}"/>
              </a:ext>
            </a:extLst>
          </p:cNvPr>
          <p:cNvSpPr>
            <a:spLocks xmlns:a="http://schemas.openxmlformats.org/drawingml/2006/main" noGrp="1"/>
          </p:cNvSpPr>
          <p:nvPr/>
        </p:nvSpPr>
        <p:spPr>
          <a:xfrm xmlns:a="http://schemas.openxmlformats.org/drawingml/2006/main">
            <a:off x="4095750" y="4724400"/>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654"/>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Continuous download audio plus a separate video-timed audio path</a:t>
            </a:r>
          </a:p>
        </p:txBody>
      </p:sp>
      <p:sp>
        <p:nvSpPr>
          <p:cNvPr id="16" name="">
            <a:extLst xmlns:a="http://schemas.openxmlformats.org/drawingml/2006/main">
              <a:ext uri="{FF2B5EF4-FFF2-40B4-BE49-F238E27FC236}">
                <a16:creationId xmlns:a16="http://schemas.microsoft.com/office/drawing/2014/main" id="{8FD66493-5D0D-4203-99D8-6DF777DBBBB4}"/>
              </a:ext>
            </a:extLst>
          </p:cNvPr>
          <p:cNvSpPr>
            <a:spLocks xmlns:a="http://schemas.openxmlformats.org/drawingml/2006/main" noGrp="1"/>
          </p:cNvSpPr>
          <p:nvPr/>
        </p:nvSpPr>
        <p:spPr>
          <a:xfrm xmlns:a="http://schemas.openxmlformats.org/drawingml/2006/main">
            <a:off x="647700" y="5305425"/>
            <a:ext cx="10163175"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C5F4ED9-AFCB-4E58-9C51-EDE697A2834E}"/>
              </a:ext>
            </a:extLst>
          </p:cNvPr>
          <p:cNvSpPr>
            <a:spLocks xmlns:a="http://schemas.openxmlformats.org/drawingml/2006/main" noGrp="1"/>
          </p:cNvSpPr>
          <p:nvPr/>
        </p:nvSpPr>
        <p:spPr>
          <a:xfrm xmlns:a="http://schemas.openxmlformats.org/drawingml/2006/main">
            <a:off x="647700" y="58102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22"/>
          </a:bodyPr>
          <a:lstStyle xmlns:a="http://schemas.openxmlformats.org/drawingml/2006/main"/>
          <a:p xmlns:a="http://schemas.openxmlformats.org/drawingml/2006/main">
            <a:pPr algn="l">
              <a:defRPr sz="1500" b="0">
                <a:solidFill>
                  <a:srgbClr val="5C5C5C"/>
                </a:solidFill>
                <a:latin typeface="Arial"/>
                <a:ea typeface="Arial"/>
                <a:cs typeface="Arial"/>
              </a:defRPr>
            </a:pPr>
            <a:r>
              <a:rPr sz="1500" b="0">
                <a:solidFill>
                  <a:srgbClr val="5C5C5C"/>
                </a:solidFill>
                <a:latin typeface="Arial"/>
                <a:ea typeface="Arial"/>
                <a:cs typeface="Arial"/>
              </a:rPr>
              <a:t>Noisy recordings, unfamiliar terms and strong local dialects should still receive human review before important external use.</a:t>
            </a:r>
          </a:p>
        </p:txBody>
      </p:sp>
    </p:spTree>
    <p:extLst>
      <p:ext uri="{BB962C8B-B14F-4D97-AF65-F5344CB8AC3E}">
        <p14:creationId xmlns:p14="http://schemas.microsoft.com/office/powerpoint/2010/main" val="5310187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DBD1189-1E35-4133-AF0E-0457E733ADB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C1F5C9-C974-4E3A-9490-80A36D5ED404}"/>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Offline deployment</a:t>
            </a:r>
          </a:p>
        </p:txBody>
      </p:sp>
      <p:sp>
        <p:nvSpPr>
          <p:cNvPr id="3" name="">
            <a:extLst xmlns:a="http://schemas.openxmlformats.org/drawingml/2006/main">
              <a:ext uri="{FF2B5EF4-FFF2-40B4-BE49-F238E27FC236}">
                <a16:creationId xmlns:a16="http://schemas.microsoft.com/office/drawing/2014/main" id="{44EAA4F0-10D9-45E5-BE83-78AC92EE7C27}"/>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3B2739-FEE5-4928-99C1-320E2F142B8D}"/>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0D65640-372E-44A4-8F0E-BE1E996FD1A2}"/>
              </a:ext>
            </a:extLst>
          </p:cNvPr>
          <p:cNvSpPr>
            <a:spLocks xmlns:a="http://schemas.openxmlformats.org/drawingml/2006/main" noGrp="1"/>
          </p:cNvSpPr>
          <p:nvPr/>
        </p:nvSpPr>
        <p:spPr>
          <a:xfrm xmlns:a="http://schemas.openxmlformats.org/drawingml/2006/main">
            <a:off x="647700" y="1924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Application</a:t>
            </a:r>
          </a:p>
        </p:txBody>
      </p:sp>
      <p:sp>
        <p:nvSpPr>
          <p:cNvPr id="6" name="">
            <a:extLst xmlns:a="http://schemas.openxmlformats.org/drawingml/2006/main">
              <a:ext uri="{FF2B5EF4-FFF2-40B4-BE49-F238E27FC236}">
                <a16:creationId xmlns:a16="http://schemas.microsoft.com/office/drawing/2014/main" id="{B7D662C4-7E22-436B-99D9-9F8FE0BEDFAE}"/>
              </a:ext>
            </a:extLst>
          </p:cNvPr>
          <p:cNvSpPr>
            <a:spLocks xmlns:a="http://schemas.openxmlformats.org/drawingml/2006/main" noGrp="1"/>
          </p:cNvSpPr>
          <p:nvPr/>
        </p:nvSpPr>
        <p:spPr>
          <a:xfrm xmlns:a="http://schemas.openxmlformats.org/drawingml/2006/main">
            <a:off x="647700" y="23336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Python 3.12 and Streamlit</a:t>
            </a:r>
          </a:p>
        </p:txBody>
      </p:sp>
      <p:sp>
        <p:nvSpPr>
          <p:cNvPr id="7" name="">
            <a:extLst xmlns:a="http://schemas.openxmlformats.org/drawingml/2006/main">
              <a:ext uri="{FF2B5EF4-FFF2-40B4-BE49-F238E27FC236}">
                <a16:creationId xmlns:a16="http://schemas.microsoft.com/office/drawing/2014/main" id="{BABF4B4A-2DAA-40D7-8FF3-62B6CBAEC058}"/>
              </a:ext>
            </a:extLst>
          </p:cNvPr>
          <p:cNvSpPr>
            <a:spLocks xmlns:a="http://schemas.openxmlformats.org/drawingml/2006/main" noGrp="1"/>
          </p:cNvSpPr>
          <p:nvPr/>
        </p:nvSpPr>
        <p:spPr>
          <a:xfrm xmlns:a="http://schemas.openxmlformats.org/drawingml/2006/main">
            <a:off x="647700" y="32385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Models</a:t>
            </a:r>
          </a:p>
        </p:txBody>
      </p:sp>
      <p:sp>
        <p:nvSpPr>
          <p:cNvPr id="8" name="">
            <a:extLst xmlns:a="http://schemas.openxmlformats.org/drawingml/2006/main">
              <a:ext uri="{FF2B5EF4-FFF2-40B4-BE49-F238E27FC236}">
                <a16:creationId xmlns:a16="http://schemas.microsoft.com/office/drawing/2014/main" id="{386BFA05-A6DE-41DB-8AD7-C10A3E29C1EB}"/>
              </a:ext>
            </a:extLst>
          </p:cNvPr>
          <p:cNvSpPr>
            <a:spLocks xmlns:a="http://schemas.openxmlformats.org/drawingml/2006/main" noGrp="1"/>
          </p:cNvSpPr>
          <p:nvPr/>
        </p:nvSpPr>
        <p:spPr>
          <a:xfrm xmlns:a="http://schemas.openxmlformats.org/drawingml/2006/main">
            <a:off x="647700" y="36480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913"/>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Local Whisper, IndicTrans2 and TTS model vault</a:t>
            </a:r>
          </a:p>
        </p:txBody>
      </p:sp>
      <p:sp>
        <p:nvSpPr>
          <p:cNvPr id="9" name="">
            <a:extLst xmlns:a="http://schemas.openxmlformats.org/drawingml/2006/main">
              <a:ext uri="{FF2B5EF4-FFF2-40B4-BE49-F238E27FC236}">
                <a16:creationId xmlns:a16="http://schemas.microsoft.com/office/drawing/2014/main" id="{D81449FF-C328-4802-B4F8-D6D0F72A5A7D}"/>
              </a:ext>
            </a:extLst>
          </p:cNvPr>
          <p:cNvSpPr>
            <a:spLocks xmlns:a="http://schemas.openxmlformats.org/drawingml/2006/main" noGrp="1"/>
          </p:cNvSpPr>
          <p:nvPr/>
        </p:nvSpPr>
        <p:spPr>
          <a:xfrm xmlns:a="http://schemas.openxmlformats.org/drawingml/2006/main">
            <a:off x="5715000" y="1809750"/>
            <a:ext cx="9525" cy="285750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9C91F1-965F-4854-A4E8-726AFAB898EA}"/>
              </a:ext>
            </a:extLst>
          </p:cNvPr>
          <p:cNvSpPr>
            <a:spLocks xmlns:a="http://schemas.openxmlformats.org/drawingml/2006/main" noGrp="1"/>
          </p:cNvSpPr>
          <p:nvPr/>
        </p:nvSpPr>
        <p:spPr>
          <a:xfrm xmlns:a="http://schemas.openxmlformats.org/drawingml/2006/main">
            <a:off x="6362700" y="19240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New-machine setup</a:t>
            </a:r>
          </a:p>
        </p:txBody>
      </p:sp>
      <p:sp>
        <p:nvSpPr>
          <p:cNvPr id="11" name="">
            <a:extLst xmlns:a="http://schemas.openxmlformats.org/drawingml/2006/main">
              <a:ext uri="{FF2B5EF4-FFF2-40B4-BE49-F238E27FC236}">
                <a16:creationId xmlns:a16="http://schemas.microsoft.com/office/drawing/2014/main" id="{FE93BB70-463B-4E25-AD74-D9C363664D74}"/>
              </a:ext>
            </a:extLst>
          </p:cNvPr>
          <p:cNvSpPr>
            <a:spLocks xmlns:a="http://schemas.openxmlformats.org/drawingml/2006/main" noGrp="1"/>
          </p:cNvSpPr>
          <p:nvPr/>
        </p:nvSpPr>
        <p:spPr>
          <a:xfrm xmlns:a="http://schemas.openxmlformats.org/drawingml/2006/main">
            <a:off x="6362700" y="2333625"/>
            <a:ext cx="4429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776"/>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Copy the approved model vault by pendrive, or download it once with temporary internet access.</a:t>
            </a:r>
          </a:p>
        </p:txBody>
      </p:sp>
      <p:sp>
        <p:nvSpPr>
          <p:cNvPr id="12" name="">
            <a:extLst xmlns:a="http://schemas.openxmlformats.org/drawingml/2006/main">
              <a:ext uri="{FF2B5EF4-FFF2-40B4-BE49-F238E27FC236}">
                <a16:creationId xmlns:a16="http://schemas.microsoft.com/office/drawing/2014/main" id="{EBFD2974-5719-41AE-912A-B277B22E8F97}"/>
              </a:ext>
            </a:extLst>
          </p:cNvPr>
          <p:cNvSpPr>
            <a:spLocks xmlns:a="http://schemas.openxmlformats.org/drawingml/2006/main" noGrp="1"/>
          </p:cNvSpPr>
          <p:nvPr/>
        </p:nvSpPr>
        <p:spPr>
          <a:xfrm xmlns:a="http://schemas.openxmlformats.org/drawingml/2006/main">
            <a:off x="6362700" y="3571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p xmlns:a="http://schemas.openxmlformats.org/drawingml/2006/main">
            <a:pPr algn="l">
              <a:defRPr sz="1800" b="1">
                <a:solidFill>
                  <a:srgbClr val="DB0011"/>
                </a:solidFill>
                <a:latin typeface="Arial"/>
                <a:ea typeface="Arial"/>
                <a:cs typeface="Arial"/>
              </a:defRPr>
            </a:pPr>
            <a:r>
              <a:rPr sz="1800" b="1">
                <a:solidFill>
                  <a:srgbClr val="DB0011"/>
                </a:solidFill>
                <a:latin typeface="Arial"/>
                <a:ea typeface="Arial"/>
                <a:cs typeface="Arial"/>
              </a:rPr>
              <a:t>Normal operation</a:t>
            </a:r>
          </a:p>
        </p:txBody>
      </p:sp>
      <p:sp>
        <p:nvSpPr>
          <p:cNvPr id="13" name="">
            <a:extLst xmlns:a="http://schemas.openxmlformats.org/drawingml/2006/main">
              <a:ext uri="{FF2B5EF4-FFF2-40B4-BE49-F238E27FC236}">
                <a16:creationId xmlns:a16="http://schemas.microsoft.com/office/drawing/2014/main" id="{B675B345-4F54-496D-8455-187C9E590804}"/>
              </a:ext>
            </a:extLst>
          </p:cNvPr>
          <p:cNvSpPr>
            <a:spLocks xmlns:a="http://schemas.openxmlformats.org/drawingml/2006/main" noGrp="1"/>
          </p:cNvSpPr>
          <p:nvPr/>
        </p:nvSpPr>
        <p:spPr>
          <a:xfrm xmlns:a="http://schemas.openxmlformats.org/drawingml/2006/main">
            <a:off x="6362700" y="3981450"/>
            <a:ext cx="4524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2609"/>
          </a:bodyPr>
          <a:lstStyle xmlns:a="http://schemas.openxmlformats.org/drawingml/2006/main"/>
          <a:p xmlns:a="http://schemas.openxmlformats.org/drawingml/2006/main">
            <a:pPr algn="l">
              <a:defRPr sz="1725" b="0">
                <a:solidFill>
                  <a:srgbClr val="333333"/>
                </a:solidFill>
                <a:latin typeface="Arial"/>
                <a:ea typeface="Arial"/>
                <a:cs typeface="Arial"/>
              </a:defRPr>
            </a:pPr>
            <a:r>
              <a:rPr sz="1725" b="0">
                <a:solidFill>
                  <a:srgbClr val="333333"/>
                </a:solidFill>
                <a:latin typeface="Arial"/>
                <a:ea typeface="Arial"/>
                <a:cs typeface="Arial"/>
              </a:rPr>
              <a:t>Uploaded media, outputs and cache remain on BAIF infrastructure. Normal translation uses no cloud API or internet connection.</a:t>
            </a:r>
          </a:p>
        </p:txBody>
      </p:sp>
      <p:sp>
        <p:nvSpPr>
          <p:cNvPr id="14" name="">
            <a:extLst xmlns:a="http://schemas.openxmlformats.org/drawingml/2006/main">
              <a:ext uri="{FF2B5EF4-FFF2-40B4-BE49-F238E27FC236}">
                <a16:creationId xmlns:a16="http://schemas.microsoft.com/office/drawing/2014/main" id="{D8C10381-5709-426C-85EE-84428E873112}"/>
              </a:ext>
            </a:extLst>
          </p:cNvPr>
          <p:cNvSpPr>
            <a:spLocks xmlns:a="http://schemas.openxmlformats.org/drawingml/2006/main" noGrp="1"/>
          </p:cNvSpPr>
          <p:nvPr/>
        </p:nvSpPr>
        <p:spPr>
          <a:xfrm xmlns:a="http://schemas.openxmlformats.org/drawingml/2006/main">
            <a:off x="647700" y="5619750"/>
            <a:ext cx="1033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25"/>
          </a:bodyPr>
          <a:lstStyle xmlns:a="http://schemas.openxmlformats.org/drawingml/2006/main"/>
          <a:p xmlns:a="http://schemas.openxmlformats.org/drawingml/2006/main">
            <a:pPr algn="l">
              <a:defRPr sz="1650" b="1">
                <a:solidFill>
                  <a:srgbClr val="5C5C5C"/>
                </a:solidFill>
                <a:latin typeface="Arial"/>
                <a:ea typeface="Arial"/>
                <a:cs typeface="Arial"/>
              </a:defRPr>
            </a:pPr>
            <a:r>
              <a:rPr sz="1650" b="1">
                <a:solidFill>
                  <a:srgbClr val="5C5C5C"/>
                </a:solidFill>
                <a:latin typeface="Arial"/>
                <a:ea typeface="Arial"/>
                <a:cs typeface="Arial"/>
              </a:rPr>
              <a:t>Model verification confirms that the local vault contains the required speech recognition, translation and voice models before handover.</a:t>
            </a:r>
          </a:p>
        </p:txBody>
      </p:sp>
    </p:spTree>
    <p:extLst>
      <p:ext uri="{BB962C8B-B14F-4D97-AF65-F5344CB8AC3E}">
        <p14:creationId xmlns:p14="http://schemas.microsoft.com/office/powerpoint/2010/main" val="17124857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4937B34-B766-408F-B0E6-621F9E243A7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B00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7F7A87-CADE-4321-95F9-649B356658B9}"/>
              </a:ext>
            </a:extLst>
          </p:cNvPr>
          <p:cNvSpPr>
            <a:spLocks xmlns:a="http://schemas.openxmlformats.org/drawingml/2006/main" noGrp="1"/>
          </p:cNvSpPr>
          <p:nvPr/>
        </p:nvSpPr>
        <p:spPr>
          <a:xfrm xmlns:a="http://schemas.openxmlformats.org/drawingml/2006/main">
            <a:off x="647700" y="647700"/>
            <a:ext cx="881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333333"/>
                </a:solidFill>
                <a:latin typeface="Arial"/>
                <a:ea typeface="Arial"/>
                <a:cs typeface="Arial"/>
              </a:defRPr>
            </a:pPr>
            <a:r>
              <a:rPr sz="2625" b="1">
                <a:solidFill>
                  <a:srgbClr val="333333"/>
                </a:solidFill>
                <a:latin typeface="Arial"/>
                <a:ea typeface="Arial"/>
                <a:cs typeface="Arial"/>
              </a:rPr>
              <a:t>Live demonstration</a:t>
            </a:r>
          </a:p>
        </p:txBody>
      </p:sp>
      <p:sp>
        <p:nvSpPr>
          <p:cNvPr id="3" name="">
            <a:extLst xmlns:a="http://schemas.openxmlformats.org/drawingml/2006/main">
              <a:ext uri="{FF2B5EF4-FFF2-40B4-BE49-F238E27FC236}">
                <a16:creationId xmlns:a16="http://schemas.microsoft.com/office/drawing/2014/main" id="{27B972E7-7123-4AC9-B4A4-BFA733C2CBE9}"/>
              </a:ext>
            </a:extLst>
          </p:cNvPr>
          <p:cNvSpPr>
            <a:spLocks xmlns:a="http://schemas.openxmlformats.org/drawingml/2006/main" noGrp="1"/>
          </p:cNvSpPr>
          <p:nvPr/>
        </p:nvSpPr>
        <p:spPr>
          <a:xfrm xmlns:a="http://schemas.openxmlformats.org/drawingml/2006/main">
            <a:off x="647700" y="1333500"/>
            <a:ext cx="10896600" cy="9525"/>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7CDC2E-9290-4DD4-903A-E50826BE8696}"/>
              </a:ext>
            </a:extLst>
          </p:cNvPr>
          <p:cNvSpPr>
            <a:spLocks xmlns:a="http://schemas.openxmlformats.org/drawingml/2006/main" noGrp="1"/>
          </p:cNvSpPr>
          <p:nvPr/>
        </p:nvSpPr>
        <p:spPr>
          <a:xfrm xmlns:a="http://schemas.openxmlformats.org/drawingml/2006/main">
            <a:off x="11096625" y="642937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p xmlns:a="http://schemas.openxmlformats.org/drawingml/2006/main">
            <a:pPr algn="r">
              <a:defRPr sz="900" b="1">
                <a:solidFill>
                  <a:srgbClr val="5C5C5C"/>
                </a:solidFill>
                <a:latin typeface="Arial"/>
                <a:ea typeface="Arial"/>
                <a:cs typeface="Arial"/>
              </a:defRPr>
            </a:pPr>
            <a:r>
              <a:rPr sz="900" b="1">
                <a:solidFill>
                  <a:srgbClr val="5C5C5C"/>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E053A4A1-A6CF-4EEE-94A1-EF7B159A7223}"/>
              </a:ext>
            </a:extLst>
          </p:cNvPr>
          <p:cNvSpPr>
            <a:spLocks xmlns:a="http://schemas.openxmlformats.org/drawingml/2006/main" noGrp="1"/>
          </p:cNvSpPr>
          <p:nvPr/>
        </p:nvSpPr>
        <p:spPr>
          <a:xfrm xmlns:a="http://schemas.openxmlformats.org/drawingml/2006/main">
            <a:off x="647700" y="219075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14"/>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A1BB99B-58ED-4A5C-B02F-0F9E2BF15634}"/>
              </a:ext>
            </a:extLst>
          </p:cNvPr>
          <p:cNvSpPr>
            <a:spLocks xmlns:a="http://schemas.openxmlformats.org/drawingml/2006/main" noGrp="1"/>
          </p:cNvSpPr>
          <p:nvPr/>
        </p:nvSpPr>
        <p:spPr>
          <a:xfrm xmlns:a="http://schemas.openxmlformats.org/drawingml/2006/main">
            <a:off x="1162050" y="219075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728"/>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Upload a short media file</a:t>
            </a:r>
          </a:p>
        </p:txBody>
      </p:sp>
      <p:sp>
        <p:nvSpPr>
          <p:cNvPr id="7" name="">
            <a:extLst xmlns:a="http://schemas.openxmlformats.org/drawingml/2006/main">
              <a:ext uri="{FF2B5EF4-FFF2-40B4-BE49-F238E27FC236}">
                <a16:creationId xmlns:a16="http://schemas.microsoft.com/office/drawing/2014/main" id="{4394A3D6-7642-42FA-A19E-9D99595E0432}"/>
              </a:ext>
            </a:extLst>
          </p:cNvPr>
          <p:cNvSpPr>
            <a:spLocks xmlns:a="http://schemas.openxmlformats.org/drawingml/2006/main" noGrp="1"/>
          </p:cNvSpPr>
          <p:nvPr/>
        </p:nvSpPr>
        <p:spPr>
          <a:xfrm xmlns:a="http://schemas.openxmlformats.org/drawingml/2006/main">
            <a:off x="1162050" y="2819400"/>
            <a:ext cx="2667000" cy="1905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6D3D73-E304-461A-AA00-73004B56655D}"/>
              </a:ext>
            </a:extLst>
          </p:cNvPr>
          <p:cNvSpPr>
            <a:spLocks xmlns:a="http://schemas.openxmlformats.org/drawingml/2006/main" noGrp="1"/>
          </p:cNvSpPr>
          <p:nvPr/>
        </p:nvSpPr>
        <p:spPr>
          <a:xfrm xmlns:a="http://schemas.openxmlformats.org/drawingml/2006/main">
            <a:off x="4267200" y="219075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14"/>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6B94699B-030B-4851-9905-1C105C832B57}"/>
              </a:ext>
            </a:extLst>
          </p:cNvPr>
          <p:cNvSpPr>
            <a:spLocks xmlns:a="http://schemas.openxmlformats.org/drawingml/2006/main" noGrp="1"/>
          </p:cNvSpPr>
          <p:nvPr/>
        </p:nvSpPr>
        <p:spPr>
          <a:xfrm xmlns:a="http://schemas.openxmlformats.org/drawingml/2006/main">
            <a:off x="4781550" y="219075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188"/>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Select source and target languages</a:t>
            </a:r>
          </a:p>
        </p:txBody>
      </p:sp>
      <p:sp>
        <p:nvSpPr>
          <p:cNvPr id="10" name="">
            <a:extLst xmlns:a="http://schemas.openxmlformats.org/drawingml/2006/main">
              <a:ext uri="{FF2B5EF4-FFF2-40B4-BE49-F238E27FC236}">
                <a16:creationId xmlns:a16="http://schemas.microsoft.com/office/drawing/2014/main" id="{770D91A4-3DA1-4D38-9772-A1A765C34720}"/>
              </a:ext>
            </a:extLst>
          </p:cNvPr>
          <p:cNvSpPr>
            <a:spLocks xmlns:a="http://schemas.openxmlformats.org/drawingml/2006/main" noGrp="1"/>
          </p:cNvSpPr>
          <p:nvPr/>
        </p:nvSpPr>
        <p:spPr>
          <a:xfrm xmlns:a="http://schemas.openxmlformats.org/drawingml/2006/main">
            <a:off x="4781550" y="2819400"/>
            <a:ext cx="2667000" cy="1905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FDB1FC-A1D1-4B74-A8FE-019C00E12941}"/>
              </a:ext>
            </a:extLst>
          </p:cNvPr>
          <p:cNvSpPr>
            <a:spLocks xmlns:a="http://schemas.openxmlformats.org/drawingml/2006/main" noGrp="1"/>
          </p:cNvSpPr>
          <p:nvPr/>
        </p:nvSpPr>
        <p:spPr>
          <a:xfrm xmlns:a="http://schemas.openxmlformats.org/drawingml/2006/main">
            <a:off x="7886700" y="219075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14"/>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800DE6DA-9993-478A-9991-68216EE6A67E}"/>
              </a:ext>
            </a:extLst>
          </p:cNvPr>
          <p:cNvSpPr>
            <a:spLocks xmlns:a="http://schemas.openxmlformats.org/drawingml/2006/main" noGrp="1"/>
          </p:cNvSpPr>
          <p:nvPr/>
        </p:nvSpPr>
        <p:spPr>
          <a:xfrm xmlns:a="http://schemas.openxmlformats.org/drawingml/2006/main">
            <a:off x="8401050" y="219075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Start translation</a:t>
            </a:r>
          </a:p>
        </p:txBody>
      </p:sp>
      <p:sp>
        <p:nvSpPr>
          <p:cNvPr id="13" name="">
            <a:extLst xmlns:a="http://schemas.openxmlformats.org/drawingml/2006/main">
              <a:ext uri="{FF2B5EF4-FFF2-40B4-BE49-F238E27FC236}">
                <a16:creationId xmlns:a16="http://schemas.microsoft.com/office/drawing/2014/main" id="{35657D96-3A31-4BA7-A78D-DD04D0725D33}"/>
              </a:ext>
            </a:extLst>
          </p:cNvPr>
          <p:cNvSpPr>
            <a:spLocks xmlns:a="http://schemas.openxmlformats.org/drawingml/2006/main" noGrp="1"/>
          </p:cNvSpPr>
          <p:nvPr/>
        </p:nvSpPr>
        <p:spPr>
          <a:xfrm xmlns:a="http://schemas.openxmlformats.org/drawingml/2006/main">
            <a:off x="8401050" y="2819400"/>
            <a:ext cx="2667000" cy="1905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1191C2-69F0-4651-95A8-DAE10B551F71}"/>
              </a:ext>
            </a:extLst>
          </p:cNvPr>
          <p:cNvSpPr>
            <a:spLocks xmlns:a="http://schemas.openxmlformats.org/drawingml/2006/main" noGrp="1"/>
          </p:cNvSpPr>
          <p:nvPr/>
        </p:nvSpPr>
        <p:spPr>
          <a:xfrm xmlns:a="http://schemas.openxmlformats.org/drawingml/2006/main">
            <a:off x="647700" y="36195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14"/>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3BBA005C-8BFB-4B0A-BF8D-D7C825FA6623}"/>
              </a:ext>
            </a:extLst>
          </p:cNvPr>
          <p:cNvSpPr>
            <a:spLocks xmlns:a="http://schemas.openxmlformats.org/drawingml/2006/main" noGrp="1"/>
          </p:cNvSpPr>
          <p:nvPr/>
        </p:nvSpPr>
        <p:spPr>
          <a:xfrm xmlns:a="http://schemas.openxmlformats.org/drawingml/2006/main">
            <a:off x="1162050" y="361950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188"/>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Follow completion percentage and status</a:t>
            </a:r>
          </a:p>
        </p:txBody>
      </p:sp>
      <p:sp>
        <p:nvSpPr>
          <p:cNvPr id="16" name="">
            <a:extLst xmlns:a="http://schemas.openxmlformats.org/drawingml/2006/main">
              <a:ext uri="{FF2B5EF4-FFF2-40B4-BE49-F238E27FC236}">
                <a16:creationId xmlns:a16="http://schemas.microsoft.com/office/drawing/2014/main" id="{21DCA1FB-A412-4EB5-BC69-50CA5E79A519}"/>
              </a:ext>
            </a:extLst>
          </p:cNvPr>
          <p:cNvSpPr>
            <a:spLocks xmlns:a="http://schemas.openxmlformats.org/drawingml/2006/main" noGrp="1"/>
          </p:cNvSpPr>
          <p:nvPr/>
        </p:nvSpPr>
        <p:spPr>
          <a:xfrm xmlns:a="http://schemas.openxmlformats.org/drawingml/2006/main">
            <a:off x="1162050" y="4248150"/>
            <a:ext cx="2667000" cy="1905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4C9DE2D-5856-42E4-A769-B93F2FF63DB8}"/>
              </a:ext>
            </a:extLst>
          </p:cNvPr>
          <p:cNvSpPr>
            <a:spLocks xmlns:a="http://schemas.openxmlformats.org/drawingml/2006/main" noGrp="1"/>
          </p:cNvSpPr>
          <p:nvPr/>
        </p:nvSpPr>
        <p:spPr>
          <a:xfrm xmlns:a="http://schemas.openxmlformats.org/drawingml/2006/main">
            <a:off x="4267200" y="36195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14"/>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83672958-9286-4FD3-92EE-D8A9B259959A}"/>
              </a:ext>
            </a:extLst>
          </p:cNvPr>
          <p:cNvSpPr>
            <a:spLocks xmlns:a="http://schemas.openxmlformats.org/drawingml/2006/main" noGrp="1"/>
          </p:cNvSpPr>
          <p:nvPr/>
        </p:nvSpPr>
        <p:spPr>
          <a:xfrm xmlns:a="http://schemas.openxmlformats.org/drawingml/2006/main">
            <a:off x="4781550" y="361950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188"/>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Review text, audio, subtitles and video</a:t>
            </a:r>
          </a:p>
        </p:txBody>
      </p:sp>
      <p:sp>
        <p:nvSpPr>
          <p:cNvPr id="19" name="">
            <a:extLst xmlns:a="http://schemas.openxmlformats.org/drawingml/2006/main">
              <a:ext uri="{FF2B5EF4-FFF2-40B4-BE49-F238E27FC236}">
                <a16:creationId xmlns:a16="http://schemas.microsoft.com/office/drawing/2014/main" id="{AB30B295-2F49-4DE9-A37D-3A07FE59F870}"/>
              </a:ext>
            </a:extLst>
          </p:cNvPr>
          <p:cNvSpPr>
            <a:spLocks xmlns:a="http://schemas.openxmlformats.org/drawingml/2006/main" noGrp="1"/>
          </p:cNvSpPr>
          <p:nvPr/>
        </p:nvSpPr>
        <p:spPr>
          <a:xfrm xmlns:a="http://schemas.openxmlformats.org/drawingml/2006/main">
            <a:off x="4781550" y="4248150"/>
            <a:ext cx="2667000" cy="1905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80481A4-C805-4BC1-9314-D3F02A7C9DEA}"/>
              </a:ext>
            </a:extLst>
          </p:cNvPr>
          <p:cNvSpPr>
            <a:spLocks xmlns:a="http://schemas.openxmlformats.org/drawingml/2006/main" noGrp="1"/>
          </p:cNvSpPr>
          <p:nvPr/>
        </p:nvSpPr>
        <p:spPr>
          <a:xfrm xmlns:a="http://schemas.openxmlformats.org/drawingml/2006/main">
            <a:off x="7886700" y="36195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14"/>
          </a:bodyPr>
          <a:lstStyle xmlns:a="http://schemas.openxmlformats.org/drawingml/2006/main"/>
          <a:p xmlns:a="http://schemas.openxmlformats.org/drawingml/2006/main">
            <a:pPr algn="l">
              <a:defRPr sz="2100" b="1">
                <a:solidFill>
                  <a:srgbClr val="DB0011"/>
                </a:solidFill>
                <a:latin typeface="Arial"/>
                <a:ea typeface="Arial"/>
                <a:cs typeface="Arial"/>
              </a:defRPr>
            </a:pPr>
            <a:r>
              <a:rPr sz="2100" b="1">
                <a:solidFill>
                  <a:srgbClr val="DB0011"/>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0AFD4B6B-7562-409B-9ECC-A9974ECA5E08}"/>
              </a:ext>
            </a:extLst>
          </p:cNvPr>
          <p:cNvSpPr>
            <a:spLocks xmlns:a="http://schemas.openxmlformats.org/drawingml/2006/main" noGrp="1"/>
          </p:cNvSpPr>
          <p:nvPr/>
        </p:nvSpPr>
        <p:spPr>
          <a:xfrm xmlns:a="http://schemas.openxmlformats.org/drawingml/2006/main">
            <a:off x="8401050" y="361950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188"/>
          </a:bodyPr>
          <a:lstStyle xmlns:a="http://schemas.openxmlformats.org/drawingml/2006/main"/>
          <a:p xmlns:a="http://schemas.openxmlformats.org/drawingml/2006/main">
            <a:pPr algn="l">
              <a:defRPr sz="1725" b="1">
                <a:solidFill>
                  <a:srgbClr val="333333"/>
                </a:solidFill>
                <a:latin typeface="Arial"/>
                <a:ea typeface="Arial"/>
                <a:cs typeface="Arial"/>
              </a:defRPr>
            </a:pPr>
            <a:r>
              <a:rPr sz="1725" b="1">
                <a:solidFill>
                  <a:srgbClr val="333333"/>
                </a:solidFill>
                <a:latin typeface="Arial"/>
                <a:ea typeface="Arial"/>
                <a:cs typeface="Arial"/>
              </a:rPr>
              <a:t>Repeat with internet disconnected</a:t>
            </a:r>
          </a:p>
        </p:txBody>
      </p:sp>
      <p:sp>
        <p:nvSpPr>
          <p:cNvPr id="22" name="">
            <a:extLst xmlns:a="http://schemas.openxmlformats.org/drawingml/2006/main">
              <a:ext uri="{FF2B5EF4-FFF2-40B4-BE49-F238E27FC236}">
                <a16:creationId xmlns:a16="http://schemas.microsoft.com/office/drawing/2014/main" id="{685611AB-99FA-4286-BEED-5339DD39985E}"/>
              </a:ext>
            </a:extLst>
          </p:cNvPr>
          <p:cNvSpPr>
            <a:spLocks xmlns:a="http://schemas.openxmlformats.org/drawingml/2006/main" noGrp="1"/>
          </p:cNvSpPr>
          <p:nvPr/>
        </p:nvSpPr>
        <p:spPr>
          <a:xfrm xmlns:a="http://schemas.openxmlformats.org/drawingml/2006/main">
            <a:off x="8401050" y="4248150"/>
            <a:ext cx="2667000" cy="19050"/>
          </a:xfrm>
          <a:prstGeom xmlns:a="http://schemas.openxmlformats.org/drawingml/2006/main" prst="rect">
            <a:avLst/>
          </a:prstGeom>
          <a:solidFill xmlns:a="http://schemas.openxmlformats.org/drawingml/2006/main">
            <a:srgbClr val="D6D6D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642254B-2CE9-4AE6-96B7-3B00809AE6A5}"/>
              </a:ext>
            </a:extLst>
          </p:cNvPr>
          <p:cNvSpPr>
            <a:spLocks xmlns:a="http://schemas.openxmlformats.org/drawingml/2006/main" noGrp="1"/>
          </p:cNvSpPr>
          <p:nvPr/>
        </p:nvSpPr>
        <p:spPr>
          <a:xfrm xmlns:a="http://schemas.openxmlformats.org/drawingml/2006/main">
            <a:off x="647700" y="55721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510"/>
          </a:bodyPr>
          <a:lstStyle xmlns:a="http://schemas.openxmlformats.org/drawingml/2006/main"/>
          <a:p xmlns:a="http://schemas.openxmlformats.org/drawingml/2006/main">
            <a:pPr algn="l">
              <a:defRPr sz="1800" b="0">
                <a:solidFill>
                  <a:srgbClr val="5C5C5C"/>
                </a:solidFill>
                <a:latin typeface="Arial"/>
                <a:ea typeface="Arial"/>
                <a:cs typeface="Arial"/>
              </a:defRPr>
            </a:pPr>
            <a:r>
              <a:rPr sz="1800" b="0">
                <a:solidFill>
                  <a:srgbClr val="5C5C5C"/>
                </a:solidFill>
                <a:latin typeface="Arial"/>
                <a:ea typeface="Arial"/>
                <a:cs typeface="Arial"/>
              </a:rPr>
              <a:t>The interface hides technical logs and gives the end user a completion percentage with simple status messages.</a:t>
            </a:r>
          </a:p>
        </p:txBody>
      </p:sp>
    </p:spTree>
    <p:extLst>
      <p:ext uri="{BB962C8B-B14F-4D97-AF65-F5344CB8AC3E}">
        <p14:creationId xmlns:p14="http://schemas.microsoft.com/office/powerpoint/2010/main" val="12145304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383DD2-0A16-4CB1-B4EF-ABC40504C034}"/>
              </a:ext>
            </a:extLst>
          </p:cNvPr>
          <p:cNvSpPr>
            <a:spLocks xmlns:a="http://schemas.openxmlformats.org/drawingml/2006/main" noGrp="1"/>
          </p:cNvSpPr>
          <p:nvPr/>
        </p:nvSpPr>
        <p:spPr>
          <a:xfrm xmlns:a="http://schemas.openxmlformats.org/drawingml/2006/main">
            <a:off x="0" y="2914650"/>
            <a:ext cx="1219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3450" b="1">
                <a:solidFill>
                  <a:srgbClr val="333333"/>
                </a:solidFill>
                <a:latin typeface="Arial"/>
                <a:ea typeface="Arial"/>
                <a:cs typeface="Arial"/>
              </a:defRPr>
            </a:pPr>
            <a:r>
              <a:rPr sz="3450" b="1">
                <a:solidFill>
                  <a:srgbClr val="333333"/>
                </a:solidFill>
                <a:latin typeface="Arial"/>
                <a:ea typeface="Arial"/>
                <a:cs typeface="Arial"/>
              </a:rPr>
              <a:t>Thank you</a:t>
            </a:r>
          </a:p>
        </p:txBody>
      </p:sp>
    </p:spTree>
    <p:extLst>
      <p:ext uri="{BB962C8B-B14F-4D97-AF65-F5344CB8AC3E}">
        <p14:creationId xmlns:p14="http://schemas.microsoft.com/office/powerpoint/2010/main" val="113774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2026-09-05T09:07:54.4470000Z</dcterms:created>
  <dcterms:modified xsi:type="dcterms:W3CDTF">2026-09-05T09:07:54.4470000Z</dcterms:modified>
</coreProperties>
</file>