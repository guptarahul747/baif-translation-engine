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7140afbceb4fe6" /><Relationship Type="http://schemas.openxmlformats.org/officeDocument/2006/relationships/extended-properties" Target="/docProps/app.xml" Id="R376195e6ae1e4818" /><Relationship Type="http://schemas.openxmlformats.org/officeDocument/2006/relationships/officeDocument" Target="/ppt/presentation.xml" Id="R5eae45afec2841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d1f292d27f4df0"/>
  </p:sldMasterIdLst>
  <p:notesMasterIdLst>
    <p:notesMasterId xmlns:r="http://schemas.openxmlformats.org/officeDocument/2006/relationships" r:id="R0e730dd6064e4e15"/>
  </p:notesMasterIdLst>
  <p:sldIdLst>
    <p:sldId xmlns:r="http://schemas.openxmlformats.org/officeDocument/2006/relationships" id="256" r:id="Rf2b0d28c950b4915"/>
    <p:sldId xmlns:r="http://schemas.openxmlformats.org/officeDocument/2006/relationships" id="257" r:id="Ra0a2cef7f7474211"/>
    <p:sldId xmlns:r="http://schemas.openxmlformats.org/officeDocument/2006/relationships" id="258" r:id="R9c2172e209fa4147"/>
    <p:sldId xmlns:r="http://schemas.openxmlformats.org/officeDocument/2006/relationships" id="259" r:id="Rf5816ffd048743c2"/>
    <p:sldId xmlns:r="http://schemas.openxmlformats.org/officeDocument/2006/relationships" id="260" r:id="R3eaaa14df09747a4"/>
    <p:sldId xmlns:r="http://schemas.openxmlformats.org/officeDocument/2006/relationships" id="261" r:id="R82ced9399bdd499f"/>
    <p:sldId xmlns:r="http://schemas.openxmlformats.org/officeDocument/2006/relationships" id="262" r:id="R49cbbbd08cb4464c"/>
    <p:sldId xmlns:r="http://schemas.openxmlformats.org/officeDocument/2006/relationships" id="263" r:id="Rcc1c2e8f64bf4fc7"/>
    <p:sldId xmlns:r="http://schemas.openxmlformats.org/officeDocument/2006/relationships" id="264" r:id="Rdf106eb9376c432e"/>
    <p:sldId xmlns:r="http://schemas.openxmlformats.org/officeDocument/2006/relationships" id="265" r:id="R5e6fd38b03b3406f"/>
    <p:sldId xmlns:r="http://schemas.openxmlformats.org/officeDocument/2006/relationships" id="266" r:id="Rf0089cb7feee48ca"/>
    <p:sldId xmlns:r="http://schemas.openxmlformats.org/officeDocument/2006/relationships" id="267" r:id="R3b8e2a8a40d24344"/>
    <p:sldId xmlns:r="http://schemas.openxmlformats.org/officeDocument/2006/relationships" id="268" r:id="R7d74fc890bcc44a8"/>
    <p:sldId xmlns:r="http://schemas.openxmlformats.org/officeDocument/2006/relationships" id="269" r:id="R7dd7af6b328c4b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d72f03fcf441be" /><Relationship Type="http://schemas.openxmlformats.org/officeDocument/2006/relationships/slideMaster" Target="/ppt/slideMasters/slideMaster1.xml" Id="R4dd1f292d27f4df0" /><Relationship Type="http://schemas.openxmlformats.org/officeDocument/2006/relationships/notesMaster" Target="/ppt/notesMasters/notesMaster1.xml" Id="R0e730dd6064e4e15" /><Relationship Type="http://schemas.openxmlformats.org/officeDocument/2006/relationships/presProps" Target="/ppt/presProps.xml" Id="Re0acbdbd54b941b8" /><Relationship Type="http://schemas.openxmlformats.org/officeDocument/2006/relationships/tableStyles" Target="/ppt/tableStyles.xml" Id="R7c4c6eed551f4bd6" /><Relationship Type="http://schemas.openxmlformats.org/officeDocument/2006/relationships/slide" Target="/ppt/slides/slide1.xml" Id="Rf2b0d28c950b4915" /><Relationship Type="http://schemas.openxmlformats.org/officeDocument/2006/relationships/slide" Target="/ppt/slides/slide2.xml" Id="Ra0a2cef7f7474211" /><Relationship Type="http://schemas.openxmlformats.org/officeDocument/2006/relationships/slide" Target="/ppt/slides/slide3.xml" Id="R9c2172e209fa4147" /><Relationship Type="http://schemas.openxmlformats.org/officeDocument/2006/relationships/slide" Target="/ppt/slides/slide4.xml" Id="Rf5816ffd048743c2" /><Relationship Type="http://schemas.openxmlformats.org/officeDocument/2006/relationships/slide" Target="/ppt/slides/slide5.xml" Id="R3eaaa14df09747a4" /><Relationship Type="http://schemas.openxmlformats.org/officeDocument/2006/relationships/slide" Target="/ppt/slides/slide6.xml" Id="R82ced9399bdd499f" /><Relationship Type="http://schemas.openxmlformats.org/officeDocument/2006/relationships/slide" Target="/ppt/slides/slide7.xml" Id="R49cbbbd08cb4464c" /><Relationship Type="http://schemas.openxmlformats.org/officeDocument/2006/relationships/slide" Target="/ppt/slides/slide8.xml" Id="Rcc1c2e8f64bf4fc7" /><Relationship Type="http://schemas.openxmlformats.org/officeDocument/2006/relationships/slide" Target="/ppt/slides/slide9.xml" Id="Rdf106eb9376c432e" /><Relationship Type="http://schemas.openxmlformats.org/officeDocument/2006/relationships/slide" Target="/ppt/slides/slide10.xml" Id="R5e6fd38b03b3406f" /><Relationship Type="http://schemas.openxmlformats.org/officeDocument/2006/relationships/slide" Target="/ppt/slides/slide11.xml" Id="Rf0089cb7feee48ca" /><Relationship Type="http://schemas.openxmlformats.org/officeDocument/2006/relationships/slide" Target="/ppt/slides/slide12.xml" Id="R3b8e2a8a40d24344" /><Relationship Type="http://schemas.openxmlformats.org/officeDocument/2006/relationships/slide" Target="/ppt/slides/slide13.xml" Id="R7d74fc890bcc44a8" /><Relationship Type="http://schemas.openxmlformats.org/officeDocument/2006/relationships/slide" Target="/ppt/slides/slide14.xml" Id="R7dd7af6b328c4b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4397269d143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591baf89504cb3" /><Relationship Type="http://schemas.openxmlformats.org/officeDocument/2006/relationships/notesMaster" Target="/ppt/notesMasters/notesMaster1.xml" Id="Re018046e013544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e915c6e8544649" /><Relationship Type="http://schemas.openxmlformats.org/officeDocument/2006/relationships/notesMaster" Target="/ppt/notesMasters/notesMaster1.xml" Id="R8c7bbd7757534b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4ca495375b4454" /><Relationship Type="http://schemas.openxmlformats.org/officeDocument/2006/relationships/notesMaster" Target="/ppt/notesMasters/notesMaster1.xml" Id="R8a6763d104d147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868cea88434d61" /><Relationship Type="http://schemas.openxmlformats.org/officeDocument/2006/relationships/notesMaster" Target="/ppt/notesMasters/notesMaster1.xml" Id="Rc2ee9f3518ee4a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0a9c6ee454e4c" /><Relationship Type="http://schemas.openxmlformats.org/officeDocument/2006/relationships/notesMaster" Target="/ppt/notesMasters/notesMaster1.xml" Id="R407966e5256b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1a0961fbb1498a" /><Relationship Type="http://schemas.openxmlformats.org/officeDocument/2006/relationships/notesMaster" Target="/ppt/notesMasters/notesMaster1.xml" Id="Rf9ff7811dead43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632ed38a0e4485" /><Relationship Type="http://schemas.openxmlformats.org/officeDocument/2006/relationships/notesMaster" Target="/ppt/notesMasters/notesMaster1.xml" Id="R08de780ad12d4d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293dcbd8bb49fc" /><Relationship Type="http://schemas.openxmlformats.org/officeDocument/2006/relationships/notesMaster" Target="/ppt/notesMasters/notesMaster1.xml" Id="R353a7c17c6ec46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f9c5aa943475a" /><Relationship Type="http://schemas.openxmlformats.org/officeDocument/2006/relationships/notesMaster" Target="/ppt/notesMasters/notesMaster1.xml" Id="Rc255f2f9c202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bda032337c400e" /><Relationship Type="http://schemas.openxmlformats.org/officeDocument/2006/relationships/notesMaster" Target="/ppt/notesMasters/notesMaster1.xml" Id="R9bb0365d40104d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a078de72934069" /><Relationship Type="http://schemas.openxmlformats.org/officeDocument/2006/relationships/notesMaster" Target="/ppt/notesMasters/notesMaster1.xml" Id="Rb36377a9b30949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9cc238561c41c0" /><Relationship Type="http://schemas.openxmlformats.org/officeDocument/2006/relationships/notesMaster" Target="/ppt/notesMasters/notesMaster1.xml" Id="Rb73fa471633045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ca855a4bb64b1b" /><Relationship Type="http://schemas.openxmlformats.org/officeDocument/2006/relationships/notesMaster" Target="/ppt/notesMasters/notesMaster1.xml" Id="R2abe7ef78c174c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a9d97dbf4d4608" /><Relationship Type="http://schemas.openxmlformats.org/officeDocument/2006/relationships/notesMaster" Target="/ppt/notesMasters/notesMaster1.xml" Id="Rc4e07c3d5163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d697506bd4e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193f4765bd4f56" /><Relationship Type="http://schemas.openxmlformats.org/officeDocument/2006/relationships/slideLayout" Target="/ppt/slideLayouts/slideLayout1.xml" Id="R3ca4cd9f9bc840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4cd9f9bc840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8ef148da14289" /><Relationship Type="http://schemas.openxmlformats.org/officeDocument/2006/relationships/notesSlide" Target="/ppt/notesSlides/notesSlide1.xml" Id="Rf1823dba8da0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4121bf76d4576" /><Relationship Type="http://schemas.openxmlformats.org/officeDocument/2006/relationships/notesSlide" Target="/ppt/notesSlides/notesSlide2.xml" Id="R2a79292dfbb146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707c672084b10" /><Relationship Type="http://schemas.openxmlformats.org/officeDocument/2006/relationships/notesSlide" Target="/ppt/notesSlides/notesSlide3.xml" Id="R65517249284744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06e74fd05441a" /><Relationship Type="http://schemas.openxmlformats.org/officeDocument/2006/relationships/notesSlide" Target="/ppt/notesSlides/notesSlide4.xml" Id="R86329d9edb8a48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94aa53bc34a31" /><Relationship Type="http://schemas.openxmlformats.org/officeDocument/2006/relationships/notesSlide" Target="/ppt/notesSlides/notesSlide5.xml" Id="Rd4eb0459aed148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d326175994273" /><Relationship Type="http://schemas.openxmlformats.org/officeDocument/2006/relationships/notesSlide" Target="/ppt/notesSlides/notesSlide6.xml" Id="Re2e17986308948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8b4ed70104abb" /><Relationship Type="http://schemas.openxmlformats.org/officeDocument/2006/relationships/notesSlide" Target="/ppt/notesSlides/notesSlide7.xml" Id="R38d93368c2ba45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2a9dff29b475e" /><Relationship Type="http://schemas.openxmlformats.org/officeDocument/2006/relationships/notesSlide" Target="/ppt/notesSlides/notesSlide8.xml" Id="R1fefeb9484174a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79695769649fb" /><Relationship Type="http://schemas.openxmlformats.org/officeDocument/2006/relationships/notesSlide" Target="/ppt/notesSlides/notesSlide9.xml" Id="R539a961b59ad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e6dade6e44056" /><Relationship Type="http://schemas.openxmlformats.org/officeDocument/2006/relationships/notesSlide" Target="/ppt/notesSlides/notesSlide10.xml" Id="R96dabace77b541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81f701b614f26" /><Relationship Type="http://schemas.openxmlformats.org/officeDocument/2006/relationships/notesSlide" Target="/ppt/notesSlides/notesSlide11.xml" Id="Ra928fefacbb54d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d2bbf18694b62" /><Relationship Type="http://schemas.openxmlformats.org/officeDocument/2006/relationships/notesSlide" Target="/ppt/notesSlides/notesSlide12.xml" Id="R9bdfda93747941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9a659b95f4a6f" /><Relationship Type="http://schemas.openxmlformats.org/officeDocument/2006/relationships/notesSlide" Target="/ppt/notesSlides/notesSlide13.xml" Id="Rc6381d6091f740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059a17d82400f" /><Relationship Type="http://schemas.openxmlformats.org/officeDocument/2006/relationships/notesSlide" Target="/ppt/notesSlides/notesSlide14.xml" Id="R8e1c7840a63742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7100B-DC34-4A64-8839-BBF6E96C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2BE55-8B4C-420A-8D17-FCC7DD1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9AD7D"/>
                </a:solidFill>
              </a:defRPr>
            </a:pPr>
            <a:r>
              <a:rPr sz="2100" b="1">
                <a:solidFill>
                  <a:srgbClr val="49AD7D"/>
                </a:solidFill>
              </a:rPr>
              <a:t>TEAM ANUWAD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C985E-209E-40A2-82BE-3262FEA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Anuwad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E27E3-4C8F-4153-91F1-3983031B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FE4"/>
                </a:solidFill>
              </a:defRPr>
            </a:pPr>
            <a:r>
              <a:rPr sz="1725" b="0">
                <a:solidFill>
                  <a:srgbClr val="DCEFE4"/>
                </a:solidFill>
              </a:rPr>
              <a:t>Offline translation for BAIF field 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40C40-5889-497F-ACB4-B15F59F1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859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A63"/>
                </a:solidFill>
              </a:defRPr>
            </a:pPr>
            <a:r>
              <a:rPr sz="1875" b="1">
                <a:solidFill>
                  <a:srgbClr val="168A63"/>
                </a:solidFill>
              </a:rPr>
              <a:t>Technology &amp; model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87004-F21A-4938-B373-7A349581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3D31"/>
                </a:solidFill>
              </a:defRPr>
            </a:pPr>
            <a:r>
              <a:rPr sz="3375" b="1">
                <a:solidFill>
                  <a:srgbClr val="123D31"/>
                </a:solidFill>
              </a:rPr>
              <a:t>Text, audio and video</a:t>
            </a:r>
          </a:p>
          <a:p xmlns:a="http://schemas.openxmlformats.org/drawingml/2006/main">
            <a:pPr algn="l">
              <a:defRPr sz="3375" b="1">
                <a:solidFill>
                  <a:srgbClr val="123D31"/>
                </a:solidFill>
              </a:defRPr>
            </a:pPr>
            <a:r>
              <a:rPr sz="3375" b="1">
                <a:solidFill>
                  <a:srgbClr val="123D31"/>
                </a:solidFill>
              </a:rPr>
              <a:t>English • Hindi • Marathi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8E532-11CF-45AB-B379-748B746D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6712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6B60"/>
                </a:solidFill>
              </a:defRPr>
            </a:pPr>
            <a:r>
              <a:rPr sz="1500" b="0">
                <a:solidFill>
                  <a:srgbClr val="4D6B60"/>
                </a:solidFill>
              </a:rPr>
              <a:t>Designed for on-premises use: models and files stay inside BAIF infrastructure.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6C421-C1E7-4FC2-B70E-4ED833E4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0EADA-5749-499A-BE33-DCFCA060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43450"/>
            <a:ext cx="2200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FULLY OFFLINE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E4FA3-F994-41AF-807D-3C36DDBD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49EF0-102C-46D1-9806-79D644E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434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3D31"/>
                </a:solidFill>
              </a:defRPr>
            </a:pPr>
            <a:r>
              <a:rPr sz="975" b="1">
                <a:solidFill>
                  <a:srgbClr val="063D31"/>
                </a:solidFill>
              </a:rPr>
              <a:t>OPEN-SOURCE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8718D-4CAF-4175-A633-742AB3D4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531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Team Anuwad</a:t>
            </a:r>
          </a:p>
        </p:txBody>
      </p:sp>
    </p:spTree>
    <p:extLst>
      <p:ext uri="{BB962C8B-B14F-4D97-AF65-F5344CB8AC3E}">
        <p14:creationId xmlns:p14="http://schemas.microsoft.com/office/powerpoint/2010/main" val="4246402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55D2C-E576-4BC6-9190-3662757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8E99C-D906-444D-A22F-B49CE8CB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30169-7A0A-4321-8227-6B141F8B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BAIF requires dependable regional-language communication without exposing field media to external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B16C3-EAAC-40CA-9D92-5F07E0A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F8187-1F97-425A-B862-9527B7B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0668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CC493-4860-4E2C-9873-AC9A41FC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995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D31"/>
                </a:solidFill>
              </a:defRPr>
            </a:pPr>
            <a:r>
              <a:rPr sz="1875" b="1">
                <a:solidFill>
                  <a:srgbClr val="123D31"/>
                </a:solidFill>
              </a:rPr>
              <a:t>Build an offline, on-premises translation application that accepts text, audio and common video files; transcribes speech; translates Marathi, Hindi and English; and creates translated text, voice and captions.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E1AA7-0ECB-478C-970E-4D58FAF6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33FD2-EE57-4E57-8974-45D9AA29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No cloud, licensing cost or HSBC dependency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F1919-03A4-4877-81EB-26A98AAA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8F902-D181-40DB-A93E-3B43614A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Common audio and video formats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E942C-48CB-424F-AF4F-658915E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3DA15-4F0A-41E3-A8F7-6C8AC74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Accurate, timed speech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F02D4-4BD8-4C69-AEAB-D4CA5F2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62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CB89C-8BF6-45B5-99B9-F2BF434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62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Usable text, audio, subtitles and translated video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08329-B3E1-4477-AF7E-0F6BD952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03F8A-29C4-445B-8627-DC212DD5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98991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F29AA-5DEC-41B1-B79E-A9755352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B2093-C498-4B65-8B5B-09DFBB05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Overall solution — BAIF Anuwad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92F02-6467-4D43-AFBF-ECFCBEF2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A single local workspace makes the technical workflow easy for the operator and transparent to stakeholders.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EB03E-EFC0-4241-BF0B-4496941E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6B496-B1F3-48C8-902B-A50A521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A4D24-367F-40DE-86F7-0D7B408A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661CC-4899-4A5B-992A-B6EB3B4F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EB681-76BC-4AE6-857C-B72B3524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D31"/>
                </a:solidFill>
              </a:defRPr>
            </a:pPr>
            <a:r>
              <a:rPr sz="1275" b="0">
                <a:solidFill>
                  <a:srgbClr val="123D31"/>
                </a:solidFill>
              </a:rPr>
              <a:t>Text, audio or video enters the local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83454-73B9-47D2-B5C0-AB861EC1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8A63"/>
                </a:solidFill>
              </a:defRPr>
            </a:pPr>
            <a:r>
              <a:rPr sz="1875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2DDF8-C8E3-4F75-B5FC-32DAB950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A9B98-25F2-4F40-8843-2F8540F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6F8E8-131E-4CE9-9BC8-87215CA4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Understand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C0C34-E9E5-44FB-8EFE-767B284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D31"/>
                </a:solidFill>
              </a:defRPr>
            </a:pPr>
            <a:r>
              <a:rPr sz="1275" b="0">
                <a:solidFill>
                  <a:srgbClr val="123D31"/>
                </a:solidFill>
              </a:rPr>
              <a:t>Faster-Whisper creates a timestamped transcript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8DCA4-E027-48CA-88D6-86E5371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766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8A63"/>
                </a:solidFill>
              </a:defRPr>
            </a:pPr>
            <a:r>
              <a:rPr sz="1875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E72B3-5F53-4B3F-9A91-40F6139B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479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63D31"/>
          </a:solidFill>
          <a:ln xmlns:a="http://schemas.openxmlformats.org/drawingml/2006/main" w="9525">
            <a:solidFill>
              <a:srgbClr val="063D3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181D7-7D36-4616-8E86-E36C1E4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D7D"/>
                </a:solidFill>
              </a:defRPr>
            </a:pPr>
            <a:r>
              <a:rPr sz="1350" b="1">
                <a:solidFill>
                  <a:srgbClr val="49AD7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0BA6C-4B8D-4E36-8ED9-5995439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Convert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A34D2-0FA2-4998-AC33-05C091D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FE4"/>
                </a:solidFill>
              </a:defRPr>
            </a:pPr>
            <a:r>
              <a:rPr sz="1275" b="0">
                <a:solidFill>
                  <a:srgbClr val="DCEFE4"/>
                </a:solidFill>
              </a:rPr>
              <a:t>IndicTrans2 produces the chosen regional language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85459-C6BD-4BCC-A320-A1771339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8A63"/>
                </a:solidFill>
              </a:defRPr>
            </a:pPr>
            <a:r>
              <a:rPr sz="1875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604E5-E4A4-449A-902E-0C87E6C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39488-30EF-411E-9479-869746CF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337D5-5F12-42AD-A38B-080E0CB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Deliver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BC701-DF3B-496B-9068-399499E4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D31"/>
                </a:solidFill>
              </a:defRPr>
            </a:pPr>
            <a:r>
              <a:rPr sz="1275" b="0">
                <a:solidFill>
                  <a:srgbClr val="123D31"/>
                </a:solidFill>
              </a:rPr>
              <a:t>Sherpa-ONNX, SRT and FFmpeg create voice, captions and video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76042-8A0E-46A9-9A63-8AEE418D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D31"/>
                </a:solidFill>
              </a:defRPr>
            </a:pPr>
            <a:r>
              <a:rPr sz="1725" b="1">
                <a:solidFill>
                  <a:srgbClr val="063D31"/>
                </a:solidFill>
              </a:rPr>
              <a:t>Result: field media becomes reusable, shareable regional-language content while data stays inside BAIF infrastructure.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B7A6F-B943-43F0-A17A-D159319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534CF-FFB6-43F2-B112-07680B6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7107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74F73-4624-4099-B031-6E2F7745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9CB4E-DBBD-4924-92C0-EBED406F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The need: turn local knowledge into usable regional-language media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A9C2-668E-4AB1-ACAC-7C3346C8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Field content should not require internet access or external data sharing.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D9E59-F6EE-4A97-B1CB-DEDC40BC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AE72C-AE10-4627-8E1E-C146C5FF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952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EA023-A1AD-4205-BF3A-D47E2530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63"/>
                </a:solidFill>
              </a:defRPr>
            </a:pPr>
            <a:r>
              <a:rPr sz="1800" b="1">
                <a:solidFill>
                  <a:srgbClr val="168A6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F0501-6194-42AA-A3BF-099F9FD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419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31"/>
                </a:solidFill>
              </a:defRPr>
            </a:pPr>
            <a:r>
              <a:rPr sz="1500" b="0">
                <a:solidFill>
                  <a:srgbClr val="123D31"/>
                </a:solidFill>
              </a:rPr>
              <a:t>Training videos, meetings, instructions and written notes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8E756-F1C9-4AB1-A15E-02BFB17A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2952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B8E3-65CA-4E47-9FC6-2606BCD7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63"/>
                </a:solidFill>
              </a:defRPr>
            </a:pPr>
            <a:r>
              <a:rPr sz="1800" b="1">
                <a:solidFill>
                  <a:srgbClr val="168A63"/>
                </a:solidFill>
              </a:rPr>
              <a:t>Barrier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56FD0-8B16-432A-A1D3-0B8B8E4E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2419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31"/>
                </a:solidFill>
              </a:defRPr>
            </a:pPr>
            <a:r>
              <a:rPr sz="1500" b="0">
                <a:solidFill>
                  <a:srgbClr val="123D31"/>
                </a:solidFill>
              </a:rPr>
              <a:t>Spoken Marathi/Hindi/English is difficult to reuse across language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F8EF0-FDB0-4946-9F3D-97638A10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952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080B9-CE53-482B-8775-AA9B4074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63"/>
                </a:solidFill>
              </a:defRPr>
            </a:pPr>
            <a:r>
              <a:rPr sz="1800" b="1">
                <a:solidFill>
                  <a:srgbClr val="168A63"/>
                </a:solidFill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ACA1A-AB03-4355-A129-E94ACDE1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0400"/>
            <a:ext cx="2419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31"/>
                </a:solidFill>
              </a:defRPr>
            </a:pPr>
            <a:r>
              <a:rPr sz="1500" b="0">
                <a:solidFill>
                  <a:srgbClr val="123D31"/>
                </a:solidFill>
              </a:rPr>
              <a:t>A ready-to-share transcript, translation, voice, subtitles and 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02CB4-E394-4772-825E-B3D79409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The design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2354F-D181-46C3-AF26-7B07D2D2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D31"/>
                </a:solidFill>
              </a:defRPr>
            </a:pPr>
            <a:r>
              <a:rPr sz="1950" b="1">
                <a:solidFill>
                  <a:srgbClr val="123D31"/>
                </a:solidFill>
              </a:rPr>
              <a:t>Process local media locally—then produce outputs that are easier for field teams to understand and share.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1B247-5F80-4C2E-89B1-973169F5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2ED5C-F657-4A2C-968E-50C3B2D1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02691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AE4C1-7FB8-42A9-9FC3-9881913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6C690-33B2-4C8E-9DCD-C87D387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One workspace accepts media or text and produces ready-to-use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9A3A6-B793-4472-B872-E741F7A4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The user selects source and target language; the technical route is chosen automatically.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5773D-010A-402C-8F14-78D663BD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820D6-63F2-46C0-81FD-F7D8EEEE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63"/>
                </a:solidFill>
              </a:defRPr>
            </a:pPr>
            <a:r>
              <a:rPr sz="1050" b="1">
                <a:solidFill>
                  <a:srgbClr val="168A63"/>
                </a:solidFill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FE13E-A13A-4FB7-9AB8-825540BA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63"/>
                </a:solidFill>
              </a:defRPr>
            </a:pPr>
            <a:r>
              <a:rPr sz="1050" b="1">
                <a:solidFill>
                  <a:srgbClr val="168A63"/>
                </a:solidFill>
              </a:rPr>
              <a:t>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3B4-4B5B-4ABD-B521-9CA7AE5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4286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ACE9A-5ADC-4218-9703-151EA07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4125"/>
            <a:ext cx="4286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1DE27-4E64-4E65-BFD5-46F0D8ED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99DFA-27A8-4AC4-BF22-75DE3239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3D31"/>
                </a:solidFill>
              </a:defRPr>
            </a:pPr>
            <a:r>
              <a:rPr sz="1425" b="0">
                <a:solidFill>
                  <a:srgbClr val="123D31"/>
                </a:solidFill>
              </a:rPr>
              <a:t>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FECF3-0676-471D-9144-08B0C77D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56D0D-1676-447E-898F-F04FE9AC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3D31"/>
                </a:solidFill>
              </a:defRPr>
            </a:pPr>
            <a:r>
              <a:rPr sz="1425" b="0">
                <a:solidFill>
                  <a:srgbClr val="123D31"/>
                </a:solidFill>
              </a:rPr>
              <a:t>Audio: MP3, WAV, AAC, M4A, FLAC, WMA, OGG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C6CF1-F0B2-41B3-ADB9-8117257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BDF35-FEB0-432D-9592-5B6C249F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3D31"/>
                </a:solidFill>
              </a:defRPr>
            </a:pPr>
            <a:r>
              <a:rPr sz="1425" b="0">
                <a:solidFill>
                  <a:srgbClr val="123D31"/>
                </a:solidFill>
              </a:rPr>
              <a:t>Video: MP4, MOV, AVI, WMV, MKV, FLV, WebM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E58CE-D3E7-43BA-AB45-80B416D2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6A5B2-39C0-42AA-9413-91456068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Translated text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DB62B-6735-4AA4-A75B-ED22FDE2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908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FF70C-0DD3-4031-82CB-B320BB0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908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Continuous translated WAV audio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F30BA-07F8-4237-8050-2922A04F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576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46C1A-A40D-49E2-873A-A42BA6BA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SRT subtitles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A22EE-9FAD-49F0-9ED8-9F90D8D3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B545B-A00A-4ED9-BB2D-124BDE6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24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Translated MP4 with dubbed audio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08969-8F49-4677-BB05-1695FE14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910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A63"/>
                </a:solidFill>
              </a:defRPr>
            </a:pPr>
            <a:r>
              <a:rPr sz="1425" b="1">
                <a:solidFill>
                  <a:srgbClr val="168A63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7097D-CD2C-4D8C-9E69-5DD491A7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Summary when selected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72DEC-06D2-4B98-AF9A-516F6E2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D31"/>
                </a:solidFill>
              </a:defRPr>
            </a:pPr>
            <a:r>
              <a:rPr sz="1725" b="1">
                <a:solidFill>
                  <a:srgbClr val="063D31"/>
                </a:solidFill>
              </a:rPr>
              <a:t>Supported source and target languages: English • Hindi • Marathi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2E7F4-FE58-443A-B25B-11697FA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D86E7-E285-49B0-9DE9-836D1FEF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43974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191ADE-3C26-4DF4-B1EB-62F0E9E6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CB62A-A55C-4EB9-BB97-5399EB92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The complete offline pipeline: five controlled local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7C4F7-FC29-41A4-A5D0-E0DB66E4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Each stage reads local files and writes local artifacts inside the BAIF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A0A7E-2162-4242-8661-7049AB1C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DCA20-2838-4267-99A0-2BE7554A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1D5F4-E896-4CDE-9B45-2597368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C13D7-3EA6-4C67-BF07-4E251BD0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D31"/>
                </a:solidFill>
              </a:defRPr>
            </a:pPr>
            <a:r>
              <a:rPr sz="1725" b="1">
                <a:solidFill>
                  <a:srgbClr val="123D31"/>
                </a:solidFill>
              </a:rPr>
              <a:t>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6C15D-44E2-4718-8E6D-2694764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6B60"/>
                </a:solidFill>
              </a:defRPr>
            </a:pPr>
            <a:r>
              <a:rPr sz="1200" b="0">
                <a:solidFill>
                  <a:srgbClr val="4D6B60"/>
                </a:solidFill>
              </a:rPr>
              <a:t>FFmpeg normalizes audio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D61CE-6764-4517-8D30-B741545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623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A63"/>
                </a:solidFill>
              </a:defRPr>
            </a:pPr>
            <a:r>
              <a:rPr sz="2100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A5CA4-5A29-44BC-B4A0-C23F8DF9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FE704-E9A8-4865-B4E0-4A9E722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38D2D-A576-4137-8C34-B3F2559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86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D31"/>
                </a:solidFill>
              </a:defRPr>
            </a:pPr>
            <a:r>
              <a:rPr sz="1725" b="1">
                <a:solidFill>
                  <a:srgbClr val="123D31"/>
                </a:solidFill>
              </a:rPr>
              <a:t>Recognize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98424-BE9F-4814-A61D-BABC7CF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6237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6B60"/>
                </a:solidFill>
              </a:defRPr>
            </a:pPr>
            <a:r>
              <a:rPr sz="1200" b="0">
                <a:solidFill>
                  <a:srgbClr val="4D6B60"/>
                </a:solidFill>
              </a:rPr>
              <a:t>Faster-Whisper creates timed transcript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83A5B-6C08-4EE0-8A65-F6BF830E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623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A63"/>
                </a:solidFill>
              </a:defRPr>
            </a:pPr>
            <a:r>
              <a:rPr sz="2100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33EDE-7E0D-49A3-BA22-8B52002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71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63D31"/>
          </a:solidFill>
          <a:ln xmlns:a="http://schemas.openxmlformats.org/drawingml/2006/main" w="9525">
            <a:solidFill>
              <a:srgbClr val="063D3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D0D15-BBC6-4BA9-8DE0-09A7E400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D7D"/>
                </a:solidFill>
              </a:defRPr>
            </a:pPr>
            <a:r>
              <a:rPr sz="1350" b="1">
                <a:solidFill>
                  <a:srgbClr val="49AD7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73AF6-87D8-49B2-937C-35E3B5E9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Translate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649E0-4A47-4809-96D4-A556A65A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FE4"/>
                </a:solidFill>
              </a:defRPr>
            </a:pPr>
            <a:r>
              <a:rPr sz="1200" b="0">
                <a:solidFill>
                  <a:srgbClr val="DCEFE4"/>
                </a:solidFill>
              </a:rPr>
              <a:t>IndicTrans2 converts language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186EF-C7EA-4458-83EC-D729B55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623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A63"/>
                </a:solidFill>
              </a:defRPr>
            </a:pPr>
            <a:r>
              <a:rPr sz="2100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6D4B5-8C2C-4095-B44B-1E260E69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6E11D-6454-4FDD-BDAF-ED7C97E3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60E4C-07E7-4128-A3CD-F86BA12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86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D31"/>
                </a:solidFill>
              </a:defRPr>
            </a:pPr>
            <a:r>
              <a:rPr sz="1725" b="1">
                <a:solidFill>
                  <a:srgbClr val="123D31"/>
                </a:solidFill>
              </a:rPr>
              <a:t>Speak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86723-F0D5-4733-AAA1-BDB81077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6B60"/>
                </a:solidFill>
              </a:defRPr>
            </a:pPr>
            <a:r>
              <a:rPr sz="1200" b="0">
                <a:solidFill>
                  <a:srgbClr val="4D6B60"/>
                </a:solidFill>
              </a:rPr>
              <a:t>Sherpa-ONNX creates voice + SRT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A15E0-24FE-4194-B261-A7DAC396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623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A63"/>
                </a:solidFill>
              </a:defRPr>
            </a:pPr>
            <a:r>
              <a:rPr sz="2100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4A344-F9DD-47FA-880C-D6A8CA0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37BC5-3CEF-4720-872B-C9D877AF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C6544-A4D9-4242-B3AF-6D1D884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86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D31"/>
                </a:solidFill>
              </a:defRPr>
            </a:pPr>
            <a:r>
              <a:rPr sz="1725" b="1">
                <a:solidFill>
                  <a:srgbClr val="123D31"/>
                </a:solidFill>
              </a:rPr>
              <a:t>Package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5782C-7DB7-4878-95B6-7BF79C3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6237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6B60"/>
                </a:solidFill>
              </a:defRPr>
            </a:pPr>
            <a:r>
              <a:rPr sz="1200" b="0">
                <a:solidFill>
                  <a:srgbClr val="4D6B60"/>
                </a:solidFill>
              </a:rPr>
              <a:t>FFmpeg exports final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A6DEF-8477-4BCC-BFC1-06CA96C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D31"/>
                </a:solidFill>
              </a:defRPr>
            </a:pPr>
            <a:r>
              <a:rPr sz="1800" b="1">
                <a:solidFill>
                  <a:srgbClr val="123D31"/>
                </a:solidFill>
              </a:rPr>
              <a:t>No cloud call is required once local_model_vault has been installed.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FDC7FE-1423-42F3-A9D2-4755B84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996AB-4C6C-4F54-BD17-FA39376F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27221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40A2AA-CA01-40F2-9862-EA69D3B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6E620-B011-430E-9E5E-0A5D4ED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Stage 1 — Speech recognition protects coverage and timestamps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AD06A-D4DE-4CF6-8ACB-5229720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The automatic profile favours complete, stable transcripts without exposing technical choices to end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DC54C-F288-4F69-BFA6-F80C9AE1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EAEB5-1036-4718-B09C-4585EAA6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381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D42F0-CB6D-4E5F-95C7-3FFCB9A1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Faster-Whisper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27C68-F71C-4ED3-BF9A-10DF5C2E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FE4"/>
                </a:solidFill>
              </a:defRPr>
            </a:pPr>
            <a:r>
              <a:rPr sz="1425" b="0">
                <a:solidFill>
                  <a:srgbClr val="DCEFE4"/>
                </a:solidFill>
              </a:rPr>
              <a:t>Local CPU inference • INT8 compute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A2538-2F6A-47E3-9975-BA713BD8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D7D"/>
                </a:solidFill>
              </a:defRPr>
            </a:pPr>
            <a:r>
              <a:rPr sz="135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B604B-2818-4764-A02C-0216A9A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Marathi, Hindi and English source speech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67119-E136-4254-BAEC-F7D0C70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D7D"/>
                </a:solidFill>
              </a:defRPr>
            </a:pPr>
            <a:r>
              <a:rPr sz="135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97768-71A7-4300-A2A0-C2EEF55F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28-second decode windows with 1-second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08976-D090-41E4-A2FB-D20BCBB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D7D"/>
                </a:solidFill>
              </a:defRPr>
            </a:pPr>
            <a:r>
              <a:rPr sz="135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B1E7A-8355-44BA-9E87-EDDF3A09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Beam size 4 for a balanced accuracy/speed trade-off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86F5C-424A-4681-B46C-78736003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D7D"/>
                </a:solidFill>
              </a:defRPr>
            </a:pPr>
            <a:r>
              <a:rPr sz="135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9C46C-73F7-4F05-AF7F-6E25BED9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No VAD gaps in the automatic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6765A-2B33-41F3-8113-042931A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D7D"/>
                </a:solidFill>
              </a:defRPr>
            </a:pPr>
            <a:r>
              <a:rPr sz="135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6AB85-5E34-410C-8E5F-FD3A60F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Repeated-word and chunk-boundary cleanup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5EAF1-82B7-4081-B1E4-832AFAC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5048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26048-67C3-4032-8DE3-5B6BF11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ASR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BBEBA-8334-450C-8A50-B5D8CB41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D31"/>
                </a:solidFill>
              </a:defRPr>
            </a:pPr>
            <a:r>
              <a:rPr sz="2025" b="1">
                <a:solidFill>
                  <a:srgbClr val="123D31"/>
                </a:solidFill>
              </a:rPr>
              <a:t>Timed transcript segments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DC1D0-A226-4740-9454-B94BE15A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71875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6B60"/>
                </a:solidFill>
              </a:defRPr>
            </a:pPr>
            <a:r>
              <a:rPr sz="1500" b="0">
                <a:solidFill>
                  <a:srgbClr val="4D6B60"/>
                </a:solidFill>
              </a:rPr>
              <a:t>Each segment retains start/end times. These timestamps drive subtitles, progress updates and video-aligned audio.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3BB3E-3D88-4DDC-9C97-B9CBF05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14875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10383-FD5D-4398-B4E9-3F897D72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91075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0D709-2386-4A25-85E9-C49C548F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14875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C1238-7DF0-498C-B1C1-9D6B2A5F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910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3D31"/>
                </a:solidFill>
              </a:defRPr>
            </a:pPr>
            <a:r>
              <a:rPr sz="975" b="1">
                <a:solidFill>
                  <a:srgbClr val="063D31"/>
                </a:solidFill>
              </a:rPr>
              <a:t>TIMESTAMPS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76A5A-3599-4245-991B-065B03BF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EB971-4473-446C-B02B-F0FD10B5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33078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28F34-B914-4D10-A847-D5AFF5FC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5FB39-7485-46DC-B71A-97DCC5B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Stage 2 — Context-aware translation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EF271-8B01-408D-83AB-7B79ABB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IndicTrans2 merges short ASR fragments before translation, then removes decoder loops from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45326-BC07-45E2-97C6-B36D7C4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EC81B-9275-4C24-BBD9-364268A2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C8742-9605-4BF1-8D79-1314D572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IndicTrans2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49750-7CB4-4EB0-9D70-E552446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Open-source neural machine translation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AF0C7-FE37-4087-8543-DB0C245D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12A34-C532-4236-A336-92038DF9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CTranslate2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675CD-A750-486F-AF0A-41BCEC91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CPU-optimized inference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52BE8-4CBF-4077-87A7-6ACFA16F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E503A-4ACB-4845-8D37-7657DD51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SentencePiece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0D283-3C9F-46C6-B1C7-2B6432DE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Language tags and tokenizer for model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0959B-AA7B-4895-8888-A0B933A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71875"/>
            <a:ext cx="4857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60FA3-DEFB-49D2-B07E-1292AFA8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004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Beam search =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B66C0-A5B8-4CFB-9B7A-998FDBA7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D31"/>
                </a:solidFill>
              </a:defRPr>
            </a:pPr>
            <a:r>
              <a:rPr sz="1350" b="0">
                <a:solidFill>
                  <a:srgbClr val="123D31"/>
                </a:solidFill>
              </a:rPr>
              <a:t>Balanced decoding: stronger alternatives without the slowest setting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466A6-2FE3-48C1-A3D3-6DBCB8BD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63"/>
                </a:solidFill>
              </a:defRPr>
            </a:pPr>
            <a:r>
              <a:rPr sz="1350" b="1">
                <a:solidFill>
                  <a:srgbClr val="168A63"/>
                </a:solidFill>
              </a:rPr>
              <a:t>Route selection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4C4B3-9636-4E3D-8F4B-69595BD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D31"/>
                </a:solidFill>
              </a:defRPr>
            </a:pPr>
            <a:r>
              <a:rPr sz="1575" b="1">
                <a:solidFill>
                  <a:srgbClr val="123D31"/>
                </a:solidFill>
              </a:rPr>
              <a:t>English ↔ Indic uses the corresponding local model. Hindi ↔ Marathi uses a local English pivot (Hindi/Marathi → English → target language).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86C81-1910-4308-90BF-1A563FA4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A7022-C95A-4F0C-A4EE-1E534C6F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7408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EF240-CAA1-4DCB-B0C1-1CFBFA22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BBD11-222B-467B-85DC-9F586355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Quality safeguards target the two visible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DAC33-A763-4DA7-B28A-38955692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The pipeline is designed to reduce skipped speech, repeated phrases and poorly timed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97C91-B647-455E-96D9-132F8C28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84E8D-EB17-439E-91AF-C6714F91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66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F551E-D649-4919-BB4D-35B9DB4B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D31"/>
                </a:solidFill>
              </a:defRPr>
            </a:pPr>
            <a:r>
              <a:rPr sz="1350" b="1">
                <a:solidFill>
                  <a:srgbClr val="063D31"/>
                </a:solidFill>
              </a:rPr>
              <a:t>Skipped speech at chunk edges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25E53-34B0-4D2C-ABDD-37827A8A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7172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D31"/>
                </a:solidFill>
              </a:defRPr>
            </a:pPr>
            <a:r>
              <a:rPr sz="1275" b="0">
                <a:solidFill>
                  <a:srgbClr val="123D31"/>
                </a:solidFill>
              </a:rPr>
              <a:t>Overlapped ASR windows, midpoint ownership and gap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E143E-B2BA-4B3E-9665-DD124418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066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18432-C0E1-40BA-A1F8-24D8B95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D31"/>
                </a:solidFill>
              </a:defRPr>
            </a:pPr>
            <a:r>
              <a:rPr sz="1350" b="1">
                <a:solidFill>
                  <a:srgbClr val="063D31"/>
                </a:solidFill>
              </a:rPr>
              <a:t>Repeated words / decoder loops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47DCB-C237-40E2-B6B7-4A29C42B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0992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D31"/>
                </a:solidFill>
              </a:defRPr>
            </a:pPr>
            <a:r>
              <a:rPr sz="1275" b="0">
                <a:solidFill>
                  <a:srgbClr val="123D31"/>
                </a:solidFill>
              </a:rPr>
              <a:t>Consecutive-word and phrase-level repetition cleanup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67AC6-8062-49C3-A230-23B6AD8D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66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2A007-6763-4CD9-9A84-F9F3FBE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D31"/>
                </a:solidFill>
              </a:defRPr>
            </a:pPr>
            <a:r>
              <a:rPr sz="1350" b="1">
                <a:solidFill>
                  <a:srgbClr val="063D31"/>
                </a:solidFill>
              </a:rPr>
              <a:t>Weak translation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3AA4C-C4C7-491B-B1C2-B8D5BB3C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4812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D31"/>
                </a:solidFill>
              </a:defRPr>
            </a:pPr>
            <a:r>
              <a:rPr sz="1275" b="0">
                <a:solidFill>
                  <a:srgbClr val="123D31"/>
                </a:solidFill>
              </a:rPr>
              <a:t>Adjacent ASR segments are merged into sentence-like chunks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EFD7A-73C7-4B8B-BC64-29E3475C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668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1877C-F8E4-4F0D-8605-6A2F5A1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D31"/>
                </a:solidFill>
              </a:defRPr>
            </a:pPr>
            <a:r>
              <a:rPr sz="1350" b="1">
                <a:solidFill>
                  <a:srgbClr val="063D31"/>
                </a:solidFill>
              </a:rPr>
              <a:t>Wrong audio/video pacing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80AC6-E7E8-4F50-BC05-B72B4DD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8632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D31"/>
                </a:solidFill>
              </a:defRPr>
            </a:pPr>
            <a:r>
              <a:rPr sz="1275" b="0">
                <a:solidFill>
                  <a:srgbClr val="123D31"/>
                </a:solidFill>
              </a:rPr>
              <a:t>Continuous download audio plus separately time-aligned video audio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F7589-E21A-47BD-AA92-B9345A27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B1A16-6009-4B8F-A26E-B7246B3D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6616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C2FF7-11EE-46D7-9F2B-0DEE159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5AE79-887B-4DDE-A23A-B81F6C1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Stage 3 — Speech generation with two audio timelines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CE7E9-3607-4EE3-B798-49295BA8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Listeners receive clean continuous audio; the video receives speech placed at the original scenes.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403C0-84C9-4284-87A7-0CE4083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93EE-6F5C-4601-AC8D-010F71D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238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AC63C-3E36-42B8-A01D-BF0D867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Sherpa-ONNX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A9A13-25AE-4995-B7F3-06D69B78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FE4"/>
                </a:solidFill>
              </a:defRPr>
            </a:pPr>
            <a:r>
              <a:rPr sz="1500" b="0">
                <a:solidFill>
                  <a:srgbClr val="DCEFE4"/>
                </a:solidFill>
              </a:rPr>
              <a:t>VITS text-to-speech</a:t>
            </a:r>
          </a:p>
          <a:p xmlns:a="http://schemas.openxmlformats.org/drawingml/2006/main">
            <a:pPr algn="l">
              <a:defRPr sz="1500" b="0">
                <a:solidFill>
                  <a:srgbClr val="DCEFE4"/>
                </a:solidFill>
              </a:defRPr>
            </a:pPr>
            <a:r>
              <a:rPr sz="1500" b="0">
                <a:solidFill>
                  <a:srgbClr val="DCEFE4"/>
                </a:solidFill>
              </a:rPr>
              <a:t>Local ONNX models</a:t>
            </a:r>
          </a:p>
          <a:p xmlns:a="http://schemas.openxmlformats.org/drawingml/2006/main">
            <a:pPr algn="l">
              <a:defRPr sz="1500" b="0">
                <a:solidFill>
                  <a:srgbClr val="DCEFE4"/>
                </a:solidFill>
              </a:defRPr>
            </a:pPr>
            <a:r>
              <a:rPr sz="1500" b="0">
                <a:solidFill>
                  <a:srgbClr val="DCEFE4"/>
                </a:solidFill>
              </a:rPr>
              <a:t>English • Hindi • Marathi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52A2E-9844-4CBC-9431-786ECADE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2762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A6025-0200-450C-A3B0-2AB60D22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Download 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BD944-20A3-4923-AE55-58EEDD5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D31"/>
                </a:solidFill>
              </a:defRPr>
            </a:pPr>
            <a:r>
              <a:rPr sz="1950" b="1">
                <a:solidFill>
                  <a:srgbClr val="123D31"/>
                </a:solidFill>
              </a:rPr>
              <a:t>Continuous WAV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AE80F-23BF-4373-8A62-0239DE4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62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No artificial waiting between translated clips.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416A7-2B4C-4092-AEE9-F78430EB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0670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B7DE3-EEFB-4495-9B31-740E499C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14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Video audio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55975-5FD6-4FF2-B3A5-A5ED5D43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D31"/>
                </a:solidFill>
              </a:defRPr>
            </a:pPr>
            <a:r>
              <a:rPr sz="1950" b="1">
                <a:solidFill>
                  <a:srgbClr val="123D31"/>
                </a:solidFill>
              </a:rPr>
              <a:t>Timed WAV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52B1A-CA48-4662-B5CE-2A291FC1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62375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Same generated speech, aligned to source timestamps and padded for final video duration.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A398A-7F1C-42A2-A8A3-229349D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C4ADD-14CE-4F59-B0C0-353A01DD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02814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E7B36-F347-4BFE-B58D-64DC3E4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A2036-6869-4D26-960C-51311E9A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Local captions and video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F02CE-E89B-4ADF-BD14-E7AD6854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FFmpeg provides broad media compatibility and browser-friendly MP4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50D4E-A718-436A-8F66-F132117A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AA627-427F-48E5-AC25-0A13644C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857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0EECC-E0A1-4C2A-A3BD-F861FC3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SRT subtitles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075C7-7879-45AA-95C8-CAD6FCEC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3D31"/>
                </a:solidFill>
              </a:defRPr>
            </a:pPr>
            <a:r>
              <a:rPr sz="1425" b="0">
                <a:solidFill>
                  <a:srgbClr val="123D31"/>
                </a:solidFill>
              </a:rPr>
              <a:t>Segment times + translated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79145-1ED4-4A4C-860C-C5F76CD6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1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A63"/>
                </a:solidFill>
              </a:defRPr>
            </a:pPr>
            <a:r>
              <a:rPr sz="2250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7A9D6-FD93-49BC-B01D-03F767E4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2857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15C4D-392F-45F3-92F5-5BC6D0C7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FFmpeg muxing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1682B-374E-4C76-BEB9-D01146FD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3D31"/>
                </a:solidFill>
              </a:defRPr>
            </a:pPr>
            <a:r>
              <a:rPr sz="1425" b="0">
                <a:solidFill>
                  <a:srgbClr val="123D31"/>
                </a:solidFill>
              </a:rPr>
              <a:t>Original video + timed dubbed WAV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F7D6C-912E-4917-85AB-79A8CD11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A63"/>
                </a:solidFill>
              </a:defRPr>
            </a:pPr>
            <a:r>
              <a:rPr sz="2250" b="1">
                <a:solidFill>
                  <a:srgbClr val="168A63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149C1-2E1E-4B65-9EAD-997E837E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2857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A0166-8571-48C1-A36B-7094CED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63"/>
                </a:solidFill>
              </a:defRPr>
            </a:pPr>
            <a:r>
              <a:rPr sz="1725" b="1">
                <a:solidFill>
                  <a:srgbClr val="168A63"/>
                </a:solidFill>
              </a:rPr>
              <a:t>Final MP4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03620-8FF3-45AD-9CEF-D25A194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52825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3D31"/>
                </a:solidFill>
              </a:defRPr>
            </a:pPr>
            <a:r>
              <a:rPr sz="1425" b="0">
                <a:solidFill>
                  <a:srgbClr val="123D31"/>
                </a:solidFill>
              </a:rPr>
              <a:t>Optional burned-in captions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FB2C0-03B8-4F14-89C1-7C0411D9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D31"/>
                </a:solidFill>
              </a:defRPr>
            </a:pPr>
            <a:r>
              <a:rPr sz="1575" b="1">
                <a:solidFill>
                  <a:srgbClr val="123D31"/>
                </a:solidFill>
              </a:rPr>
              <a:t>Supporting libraries: soundfile writes WAV; srt writes subtitle files; Streamlit makes outputs downloadable in the operator UI.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82B9D-9109-470A-A785-E7A83ACF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51B92-D229-4468-B45F-1DBE4C7B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0795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7416E-CE24-41A6-B3C3-A4068B2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87185-8A08-45F7-ADA5-5899D6E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Deployment: the runtime is self-contained and on premises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16BEA-6DBE-48AD-BAA1-7A12B62C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A production machine reads local code, local models and local files after first-time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72A4B-625F-486D-927E-98B2241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B3088-0EE3-445F-B96A-1D359E60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F4CE4-1616-486C-B3BE-EC027DCA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31"/>
                </a:solidFill>
              </a:defRPr>
            </a:pPr>
            <a:r>
              <a:rPr sz="1500" b="0">
                <a:solidFill>
                  <a:srgbClr val="123D31"/>
                </a:solidFill>
              </a:rPr>
              <a:t>Python 3.12 + Streamlit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9D4B0-3177-4DAE-A275-624EC6CB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FF425-25E5-4B1B-A4AC-840F9BAD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01B14-E99A-4662-A2AF-B03DD5F6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908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31"/>
                </a:solidFill>
              </a:defRPr>
            </a:pPr>
            <a:r>
              <a:rPr sz="1500" b="0">
                <a:solidFill>
                  <a:srgbClr val="123D31"/>
                </a:solidFill>
              </a:rPr>
              <a:t>local_model_vault / Whisper / IndicTrans2 / TTS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15423-4A2A-4E2F-B662-C175EFDF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5B868-4F2B-44C0-8FF6-9D249F7E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53BA9-A930-44AF-9BD0-F8FFD525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31"/>
                </a:solidFill>
              </a:defRPr>
            </a:pPr>
            <a:r>
              <a:rPr sz="1500" b="0">
                <a:solidFill>
                  <a:srgbClr val="123D31"/>
                </a:solidFill>
              </a:rPr>
              <a:t>CPU, local FFmpeg and local SQLite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E9ACC-8FFB-46CF-B82B-AB1DD78C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53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933BE-BA75-44FD-A551-D004416A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3"/>
                </a:solidFill>
              </a:defRPr>
            </a:pPr>
            <a:r>
              <a:rPr sz="1650" b="1">
                <a:solidFill>
                  <a:srgbClr val="168A63"/>
                </a:solidFill>
              </a:rPr>
              <a:t>Data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1AC26-196D-4BD5-B32A-C9ED41A7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766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31"/>
                </a:solidFill>
              </a:defRPr>
            </a:pPr>
            <a:r>
              <a:rPr sz="1500" b="0">
                <a:solidFill>
                  <a:srgbClr val="123D31"/>
                </a:solidFill>
              </a:rPr>
              <a:t>Uploaded files, outputs and cache remain on BAIF infrastructure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08A13-17C8-4E15-967B-DAA44425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053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02E1A-499B-4F7A-8F5E-9E99A3B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6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604B1-0831-49E0-83C5-738B2AC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After the model vault is installed, normal translation has no dependency on HSBC systems, cloud APIs or internet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14FC8-857E-49D4-9338-0608D558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E5845-ABE5-4D46-A9C3-114954B2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074864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E449D-C9B2-4842-A7CE-4C849ADA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63"/>
                </a:solidFill>
              </a:defRPr>
            </a:pPr>
            <a:r>
              <a:rPr sz="900" b="1">
                <a:solidFill>
                  <a:srgbClr val="168A63"/>
                </a:solidFill>
              </a:rPr>
              <a:t>BAIF ANUWAD STUDIO  / 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E89CE-A845-44FE-B9E9-3295B8A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D31"/>
                </a:solidFill>
              </a:defRPr>
            </a:pPr>
            <a:r>
              <a:rPr sz="2400" b="1">
                <a:solidFill>
                  <a:srgbClr val="123D31"/>
                </a:solidFill>
              </a:rPr>
              <a:t>What a live demonstration can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DD2CB-D33B-465B-A15B-CBFD2C07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B60"/>
                </a:solidFill>
              </a:defRPr>
            </a:pPr>
            <a:r>
              <a:rPr sz="1350" b="0">
                <a:solidFill>
                  <a:srgbClr val="4D6B60"/>
                </a:solidFill>
              </a:rPr>
              <a:t>A simple test sequence validates the technical and operational capabilities.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3B621-5D1C-4D23-B5B2-81657792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41DF6-4517-45DD-8C1F-C0B060BC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85DC8-3D5A-44C2-BADB-7CD0405D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63"/>
                </a:solidFill>
              </a:defRPr>
            </a:pPr>
            <a:r>
              <a:rPr sz="1500" b="1">
                <a:solidFill>
                  <a:srgbClr val="168A63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9A0D5-FD05-42B1-8A42-32E4487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Upload a Marathi/Hindi/English audio or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77186-BCF8-473B-85F6-5F7DEE9A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8600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34EB5-A5DB-43A6-8D38-7EC961E6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860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63"/>
                </a:solidFill>
              </a:defRPr>
            </a:pPr>
            <a:r>
              <a:rPr sz="1500" b="1">
                <a:solidFill>
                  <a:srgbClr val="168A63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C0F2D-CACC-454C-9138-6606FD6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Choose source and target 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934E3-7A9A-479B-A0E5-D97755CE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2E58F-A9B4-4A07-A051-108ED30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860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63"/>
                </a:solidFill>
              </a:defRPr>
            </a:pPr>
            <a:r>
              <a:rPr sz="1500" b="1">
                <a:solidFill>
                  <a:srgbClr val="168A63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8863B-E6EA-4F9A-A3E3-B1353D75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Watch progress, stage label and elapsed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D2A28-DD83-4ABF-A757-6A1BFAC6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4C257-248D-40F9-941B-3C4B60AA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63"/>
                </a:solidFill>
              </a:defRPr>
            </a:pPr>
            <a:r>
              <a:rPr sz="1500" b="1">
                <a:solidFill>
                  <a:srgbClr val="168A63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94E31-2022-45CB-B27D-F0B4F39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Review translated text and download continuous audio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BAE8B-4C0A-4E3C-A9E3-22F41A0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62375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FB84F-1777-4268-A7AB-67F1EEFC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63"/>
                </a:solidFill>
              </a:defRPr>
            </a:pPr>
            <a:r>
              <a:rPr sz="1500" b="1">
                <a:solidFill>
                  <a:srgbClr val="168A63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75C22-BE77-4F24-BA56-5ED60961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52875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Open SRT and final translated video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F7A4D-E9C1-48E1-A7DC-0EBE199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62375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9525">
            <a:solidFill>
              <a:srgbClr val="B8D9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B3A7B-538B-4A34-86CB-7D67906E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63"/>
                </a:solidFill>
              </a:defRPr>
            </a:pPr>
            <a:r>
              <a:rPr sz="1500" b="1">
                <a:solidFill>
                  <a:srgbClr val="168A63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460F3-0390-4BD0-A5B5-40F28B80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52875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D31"/>
                </a:solidFill>
              </a:defRPr>
            </a:pPr>
            <a:r>
              <a:rPr sz="1350" b="1">
                <a:solidFill>
                  <a:srgbClr val="123D31"/>
                </a:solidFill>
              </a:rPr>
              <a:t>Disconnect internet and run a new file again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86023-424D-4A78-B836-170251AA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D31"/>
                </a:solidFill>
              </a:defRPr>
            </a:pPr>
            <a:r>
              <a:rPr sz="1800" b="1">
                <a:solidFill>
                  <a:srgbClr val="063D31"/>
                </a:solidFill>
              </a:rPr>
              <a:t>Demonstration takeaway: a practical, offline regional-language workflow—not just a translation demo.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18942-2BAD-4985-81E7-A16B06BA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D6B60"/>
                </a:solidFill>
              </a:defRPr>
            </a:pPr>
            <a:r>
              <a:rPr sz="825" b="0">
                <a:solidFill>
                  <a:srgbClr val="4D6B60"/>
                </a:solidFill>
              </a:rPr>
              <a:t>BAIF • Offline • Open source • On premises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82FDC-9E95-43E8-A5CB-0417D3F2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D6B60"/>
                </a:solidFill>
              </a:defRPr>
            </a:pPr>
            <a:r>
              <a:rPr sz="825" b="1">
                <a:solidFill>
                  <a:srgbClr val="4D6B6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57703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3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1C546-C89E-4CDC-A03A-37CB0C38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BAIF Anuwad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94BF4-CC9A-4402-83BE-C3330783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EFE4"/>
                </a:solidFill>
              </a:defRPr>
            </a:pPr>
            <a:r>
              <a:rPr sz="1950" b="0">
                <a:solidFill>
                  <a:srgbClr val="DCEFE4"/>
                </a:solidFill>
              </a:rPr>
              <a:t>A local, explainable pathway from field media to regional-language outputs.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4033F-1349-4F47-B4E4-AEA76FB4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AD7D"/>
                </a:solidFill>
              </a:defRPr>
            </a:pPr>
            <a:r>
              <a:rPr sz="150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50DA7-08BE-46E1-8C90-936E2E8B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Runs after setup without 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F5DF2-08E2-405E-8D27-3F3068D9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AD7D"/>
                </a:solidFill>
              </a:defRPr>
            </a:pPr>
            <a:r>
              <a:rPr sz="150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11CD9-7427-469D-ACAE-18B2B840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Uses open-source local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D43FA-35AC-4542-BCB5-1B938B71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AD7D"/>
                </a:solidFill>
              </a:defRPr>
            </a:pPr>
            <a:r>
              <a:rPr sz="150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D16EA-5907-480F-A236-A6B515D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Delivers text, voice, captions and video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B1540-A4A7-4F3C-A0CE-1A928DCB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AD7D"/>
                </a:solidFill>
              </a:defRPr>
            </a:pPr>
            <a:r>
              <a:rPr sz="1500" b="1">
                <a:solidFill>
                  <a:srgbClr val="49AD7D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20D61-7022-47EE-B60B-7B55A9CB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Designed for BAIF on-premises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B4BBA-2A46-4CBB-BE22-47BED63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9AD7D"/>
                </a:solidFill>
              </a:defRPr>
            </a:pPr>
            <a:r>
              <a:rPr sz="2250" b="1">
                <a:solidFill>
                  <a:srgbClr val="49AD7D"/>
                </a:solidFill>
              </a:rPr>
              <a:t>Thank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2C8A5-3B9A-4C7B-A9BA-8CD348B6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FE4"/>
                </a:solidFill>
              </a:defRPr>
            </a:pPr>
            <a:r>
              <a:rPr sz="900" b="1">
                <a:solidFill>
                  <a:srgbClr val="DCEFE4"/>
                </a:solidFill>
              </a:rPr>
              <a:t>BAIF • 14</a:t>
            </a:r>
          </a:p>
        </p:txBody>
      </p:sp>
    </p:spTree>
    <p:extLst>
      <p:ext uri="{BB962C8B-B14F-4D97-AF65-F5344CB8AC3E}">
        <p14:creationId xmlns:p14="http://schemas.microsoft.com/office/powerpoint/2010/main" val="282620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2026-08-30T09:02:12.2170000Z</dcterms:created>
  <dcterms:modified xsi:type="dcterms:W3CDTF">2026-08-30T09:02:12.2170000Z</dcterms:modified>
</coreProperties>
</file>